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embeddedFontLst>
    <p:embeddedFont>
      <p:font typeface="Comfortaa"/>
      <p:regular r:id="rId13"/>
    </p:embeddedFont>
    <p:embeddedFont>
      <p:font typeface="Comfortaa"/>
      <p:regular r:id="rId14"/>
    </p:embeddedFont>
    <p:embeddedFont>
      <p:font typeface="Raleway Medium"/>
      <p:regular r:id="rId15"/>
    </p:embeddedFont>
    <p:embeddedFont>
      <p:font typeface="Raleway Medium"/>
      <p:regular r:id="rId16"/>
    </p:embeddedFont>
    <p:embeddedFont>
      <p:font typeface="Raleway Medium"/>
      <p:regular r:id="rId17"/>
    </p:embeddedFont>
    <p:embeddedFont>
      <p:font typeface="Raleway Medium"/>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6.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76737" y="1079540"/>
            <a:ext cx="7563326" cy="1254442"/>
          </a:xfrm>
          <a:prstGeom prst="rect">
            <a:avLst/>
          </a:prstGeom>
          <a:noFill/>
          <a:ln/>
        </p:spPr>
        <p:txBody>
          <a:bodyPr wrap="square" lIns="0" tIns="0" rIns="0" bIns="0" rtlCol="0" anchor="t"/>
          <a:lstStyle/>
          <a:p>
            <a:pPr algn="l" indent="0" marL="0">
              <a:lnSpc>
                <a:spcPts val="4900"/>
              </a:lnSpc>
              <a:buNone/>
            </a:pPr>
            <a:r>
              <a:rPr lang="en-US" sz="3950" b="1" dirty="0">
                <a:solidFill>
                  <a:srgbClr val="FFE14D"/>
                </a:solidFill>
                <a:latin typeface="Comfortaa Bold" pitchFamily="34" charset="0"/>
                <a:ea typeface="Comfortaa Bold" pitchFamily="34" charset="-122"/>
                <a:cs typeface="Comfortaa Bold" pitchFamily="34" charset="-120"/>
              </a:rPr>
              <a:t>Sales Strategy &amp; Growth Plan (2018)</a:t>
            </a:r>
            <a:endParaRPr lang="en-US" sz="3950" dirty="0"/>
          </a:p>
        </p:txBody>
      </p:sp>
      <p:sp>
        <p:nvSpPr>
          <p:cNvPr id="4" name="Text 1"/>
          <p:cNvSpPr/>
          <p:nvPr/>
        </p:nvSpPr>
        <p:spPr>
          <a:xfrm>
            <a:off x="6276737" y="2637830"/>
            <a:ext cx="7563326" cy="1370647"/>
          </a:xfrm>
          <a:prstGeom prst="rect">
            <a:avLst/>
          </a:prstGeom>
          <a:noFill/>
          <a:ln/>
        </p:spPr>
        <p:txBody>
          <a:bodyPr wrap="square" lIns="0" tIns="0" rIns="0" bIns="0" rtlCol="0" anchor="t"/>
          <a:lstStyle/>
          <a:p>
            <a:pPr algn="l" indent="0" marL="0">
              <a:lnSpc>
                <a:spcPts val="2650"/>
              </a:lnSpc>
              <a:buNone/>
            </a:pPr>
            <a:r>
              <a:rPr lang="en-US" sz="1750" dirty="0">
                <a:solidFill>
                  <a:srgbClr val="D7D4CC"/>
                </a:solidFill>
                <a:latin typeface="Raleway Medium" pitchFamily="34" charset="0"/>
                <a:ea typeface="Raleway Medium" pitchFamily="34" charset="-122"/>
                <a:cs typeface="Raleway Medium" pitchFamily="34" charset="-120"/>
              </a:rPr>
              <a:t>Our 2018 strategy is meticulously crafted to drive significant revenue growth, optimize profit margins, and sharpen our focus on top-performing regions and products. This plan sets the foundation for a prosperous year ahead.</a:t>
            </a:r>
            <a:endParaRPr lang="en-US" sz="1750" dirty="0"/>
          </a:p>
        </p:txBody>
      </p:sp>
      <p:sp>
        <p:nvSpPr>
          <p:cNvPr id="5" name="Shape 2"/>
          <p:cNvSpPr/>
          <p:nvPr/>
        </p:nvSpPr>
        <p:spPr>
          <a:xfrm>
            <a:off x="6276737" y="4236363"/>
            <a:ext cx="2386013" cy="2913698"/>
          </a:xfrm>
          <a:prstGeom prst="roundRect">
            <a:avLst>
              <a:gd name="adj" fmla="val 14198"/>
            </a:avLst>
          </a:prstGeom>
          <a:solidFill>
            <a:srgbClr val="46464A"/>
          </a:solidFill>
          <a:ln/>
        </p:spPr>
      </p:sp>
      <p:sp>
        <p:nvSpPr>
          <p:cNvPr id="6" name="Text 3"/>
          <p:cNvSpPr/>
          <p:nvPr/>
        </p:nvSpPr>
        <p:spPr>
          <a:xfrm>
            <a:off x="6502479" y="4462105"/>
            <a:ext cx="1934528" cy="627459"/>
          </a:xfrm>
          <a:prstGeom prst="rect">
            <a:avLst/>
          </a:prstGeom>
          <a:noFill/>
          <a:ln/>
        </p:spPr>
        <p:txBody>
          <a:bodyPr wrap="square" lIns="0" tIns="0" rIns="0" bIns="0" rtlCol="0" anchor="t"/>
          <a:lstStyle/>
          <a:p>
            <a:pPr algn="l" indent="0" marL="0">
              <a:lnSpc>
                <a:spcPts val="2450"/>
              </a:lnSpc>
              <a:buNone/>
            </a:pPr>
            <a:r>
              <a:rPr lang="en-US" sz="1950" b="1" dirty="0">
                <a:solidFill>
                  <a:srgbClr val="D7D4CC"/>
                </a:solidFill>
                <a:latin typeface="Comfortaa Bold" pitchFamily="34" charset="0"/>
                <a:ea typeface="Comfortaa Bold" pitchFamily="34" charset="-122"/>
                <a:cs typeface="Comfortaa Bold" pitchFamily="34" charset="-120"/>
              </a:rPr>
              <a:t>Increase Revenue</a:t>
            </a:r>
            <a:endParaRPr lang="en-US" sz="1950" dirty="0"/>
          </a:p>
        </p:txBody>
      </p:sp>
      <p:sp>
        <p:nvSpPr>
          <p:cNvPr id="7" name="Text 4"/>
          <p:cNvSpPr/>
          <p:nvPr/>
        </p:nvSpPr>
        <p:spPr>
          <a:xfrm>
            <a:off x="6502479" y="5211008"/>
            <a:ext cx="1934528" cy="1027986"/>
          </a:xfrm>
          <a:prstGeom prst="rect">
            <a:avLst/>
          </a:prstGeom>
          <a:noFill/>
          <a:ln/>
        </p:spPr>
        <p:txBody>
          <a:bodyPr wrap="square" lIns="0" tIns="0" rIns="0" bIns="0" rtlCol="0" anchor="t"/>
          <a:lstStyle/>
          <a:p>
            <a:pPr algn="l" indent="0" marL="0">
              <a:lnSpc>
                <a:spcPts val="2650"/>
              </a:lnSpc>
              <a:buNone/>
            </a:pPr>
            <a:r>
              <a:rPr lang="en-US" sz="1750" dirty="0">
                <a:solidFill>
                  <a:srgbClr val="D7D4CC"/>
                </a:solidFill>
                <a:latin typeface="Raleway Medium" pitchFamily="34" charset="0"/>
                <a:ea typeface="Raleway Medium" pitchFamily="34" charset="-122"/>
                <a:cs typeface="Raleway Medium" pitchFamily="34" charset="-120"/>
              </a:rPr>
              <a:t>Expand market share and boost sales volume.</a:t>
            </a:r>
            <a:endParaRPr lang="en-US" sz="1750" dirty="0"/>
          </a:p>
        </p:txBody>
      </p:sp>
      <p:sp>
        <p:nvSpPr>
          <p:cNvPr id="8" name="Shape 5"/>
          <p:cNvSpPr/>
          <p:nvPr/>
        </p:nvSpPr>
        <p:spPr>
          <a:xfrm>
            <a:off x="8865275" y="4236363"/>
            <a:ext cx="2386132" cy="2913698"/>
          </a:xfrm>
          <a:prstGeom prst="roundRect">
            <a:avLst>
              <a:gd name="adj" fmla="val 14197"/>
            </a:avLst>
          </a:prstGeom>
          <a:solidFill>
            <a:srgbClr val="46464A"/>
          </a:solidFill>
          <a:ln/>
        </p:spPr>
      </p:sp>
      <p:sp>
        <p:nvSpPr>
          <p:cNvPr id="9" name="Text 6"/>
          <p:cNvSpPr/>
          <p:nvPr/>
        </p:nvSpPr>
        <p:spPr>
          <a:xfrm>
            <a:off x="9091017" y="4462105"/>
            <a:ext cx="1934647" cy="627459"/>
          </a:xfrm>
          <a:prstGeom prst="rect">
            <a:avLst/>
          </a:prstGeom>
          <a:noFill/>
          <a:ln/>
        </p:spPr>
        <p:txBody>
          <a:bodyPr wrap="square" lIns="0" tIns="0" rIns="0" bIns="0" rtlCol="0" anchor="t"/>
          <a:lstStyle/>
          <a:p>
            <a:pPr algn="l" indent="0" marL="0">
              <a:lnSpc>
                <a:spcPts val="2450"/>
              </a:lnSpc>
              <a:buNone/>
            </a:pPr>
            <a:r>
              <a:rPr lang="en-US" sz="1950" b="1" dirty="0">
                <a:solidFill>
                  <a:srgbClr val="D7D4CC"/>
                </a:solidFill>
                <a:latin typeface="Comfortaa Bold" pitchFamily="34" charset="0"/>
                <a:ea typeface="Comfortaa Bold" pitchFamily="34" charset="-122"/>
                <a:cs typeface="Comfortaa Bold" pitchFamily="34" charset="-120"/>
              </a:rPr>
              <a:t>Improve Profit Margins</a:t>
            </a:r>
            <a:endParaRPr lang="en-US" sz="1950" dirty="0"/>
          </a:p>
        </p:txBody>
      </p:sp>
      <p:sp>
        <p:nvSpPr>
          <p:cNvPr id="10" name="Text 7"/>
          <p:cNvSpPr/>
          <p:nvPr/>
        </p:nvSpPr>
        <p:spPr>
          <a:xfrm>
            <a:off x="9091017" y="5211008"/>
            <a:ext cx="1934647" cy="1713309"/>
          </a:xfrm>
          <a:prstGeom prst="rect">
            <a:avLst/>
          </a:prstGeom>
          <a:noFill/>
          <a:ln/>
        </p:spPr>
        <p:txBody>
          <a:bodyPr wrap="square" lIns="0" tIns="0" rIns="0" bIns="0" rtlCol="0" anchor="t"/>
          <a:lstStyle/>
          <a:p>
            <a:pPr algn="l" indent="0" marL="0">
              <a:lnSpc>
                <a:spcPts val="2650"/>
              </a:lnSpc>
              <a:buNone/>
            </a:pPr>
            <a:r>
              <a:rPr lang="en-US" sz="1750" dirty="0">
                <a:solidFill>
                  <a:srgbClr val="D7D4CC"/>
                </a:solidFill>
                <a:latin typeface="Raleway Medium" pitchFamily="34" charset="0"/>
                <a:ea typeface="Raleway Medium" pitchFamily="34" charset="-122"/>
                <a:cs typeface="Raleway Medium" pitchFamily="34" charset="-120"/>
              </a:rPr>
              <a:t>Enhance profitability through strategic product and regional focus.</a:t>
            </a:r>
            <a:endParaRPr lang="en-US" sz="1750" dirty="0"/>
          </a:p>
        </p:txBody>
      </p:sp>
      <p:sp>
        <p:nvSpPr>
          <p:cNvPr id="11" name="Shape 8"/>
          <p:cNvSpPr/>
          <p:nvPr/>
        </p:nvSpPr>
        <p:spPr>
          <a:xfrm>
            <a:off x="11453932" y="4236363"/>
            <a:ext cx="2386013" cy="2913698"/>
          </a:xfrm>
          <a:prstGeom prst="roundRect">
            <a:avLst>
              <a:gd name="adj" fmla="val 14198"/>
            </a:avLst>
          </a:prstGeom>
          <a:solidFill>
            <a:srgbClr val="46464A"/>
          </a:solidFill>
          <a:ln/>
        </p:spPr>
      </p:sp>
      <p:sp>
        <p:nvSpPr>
          <p:cNvPr id="12" name="Text 9"/>
          <p:cNvSpPr/>
          <p:nvPr/>
        </p:nvSpPr>
        <p:spPr>
          <a:xfrm>
            <a:off x="11679674" y="4462105"/>
            <a:ext cx="1934528" cy="941189"/>
          </a:xfrm>
          <a:prstGeom prst="rect">
            <a:avLst/>
          </a:prstGeom>
          <a:noFill/>
          <a:ln/>
        </p:spPr>
        <p:txBody>
          <a:bodyPr wrap="square" lIns="0" tIns="0" rIns="0" bIns="0" rtlCol="0" anchor="t"/>
          <a:lstStyle/>
          <a:p>
            <a:pPr algn="l" indent="0" marL="0">
              <a:lnSpc>
                <a:spcPts val="2450"/>
              </a:lnSpc>
              <a:buNone/>
            </a:pPr>
            <a:r>
              <a:rPr lang="en-US" sz="1950" b="1" dirty="0">
                <a:solidFill>
                  <a:srgbClr val="D7D4CC"/>
                </a:solidFill>
                <a:latin typeface="Comfortaa Bold" pitchFamily="34" charset="0"/>
                <a:ea typeface="Comfortaa Bold" pitchFamily="34" charset="-122"/>
                <a:cs typeface="Comfortaa Bold" pitchFamily="34" charset="-120"/>
              </a:rPr>
              <a:t>Focus on High-Performers</a:t>
            </a:r>
            <a:endParaRPr lang="en-US" sz="1950" dirty="0"/>
          </a:p>
        </p:txBody>
      </p:sp>
      <p:sp>
        <p:nvSpPr>
          <p:cNvPr id="13" name="Text 10"/>
          <p:cNvSpPr/>
          <p:nvPr/>
        </p:nvSpPr>
        <p:spPr>
          <a:xfrm>
            <a:off x="11679674" y="5524738"/>
            <a:ext cx="1934528" cy="1370647"/>
          </a:xfrm>
          <a:prstGeom prst="rect">
            <a:avLst/>
          </a:prstGeom>
          <a:noFill/>
          <a:ln/>
        </p:spPr>
        <p:txBody>
          <a:bodyPr wrap="square" lIns="0" tIns="0" rIns="0" bIns="0" rtlCol="0" anchor="t"/>
          <a:lstStyle/>
          <a:p>
            <a:pPr algn="l" indent="0" marL="0">
              <a:lnSpc>
                <a:spcPts val="2650"/>
              </a:lnSpc>
              <a:buNone/>
            </a:pPr>
            <a:r>
              <a:rPr lang="en-US" sz="1750" dirty="0">
                <a:solidFill>
                  <a:srgbClr val="D7D4CC"/>
                </a:solidFill>
                <a:latin typeface="Raleway Medium" pitchFamily="34" charset="0"/>
                <a:ea typeface="Raleway Medium" pitchFamily="34" charset="-122"/>
                <a:cs typeface="Raleway Medium" pitchFamily="34" charset="-120"/>
              </a:rPr>
              <a:t>Prioritize regions and products with proven high performance.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4257" y="1319570"/>
            <a:ext cx="12453580" cy="546021"/>
          </a:xfrm>
          <a:prstGeom prst="rect">
            <a:avLst/>
          </a:prstGeom>
          <a:noFill/>
          <a:ln/>
        </p:spPr>
        <p:txBody>
          <a:bodyPr wrap="none" lIns="0" tIns="0" rIns="0" bIns="0" rtlCol="0" anchor="t"/>
          <a:lstStyle/>
          <a:p>
            <a:pPr algn="l" indent="0" marL="0">
              <a:lnSpc>
                <a:spcPts val="4250"/>
              </a:lnSpc>
              <a:buNone/>
            </a:pPr>
            <a:r>
              <a:rPr lang="en-US" sz="3400" b="1" dirty="0">
                <a:solidFill>
                  <a:srgbClr val="FFE14D"/>
                </a:solidFill>
                <a:latin typeface="Comfortaa Bold" pitchFamily="34" charset="0"/>
                <a:ea typeface="Comfortaa Bold" pitchFamily="34" charset="-122"/>
                <a:cs typeface="Comfortaa Bold" pitchFamily="34" charset="-120"/>
              </a:rPr>
              <a:t>Sales Performance Overview: Electronics &amp; Profitability</a:t>
            </a:r>
            <a:endParaRPr lang="en-US" sz="3400" dirty="0"/>
          </a:p>
        </p:txBody>
      </p:sp>
      <p:sp>
        <p:nvSpPr>
          <p:cNvPr id="3" name="Text 1"/>
          <p:cNvSpPr/>
          <p:nvPr/>
        </p:nvSpPr>
        <p:spPr>
          <a:xfrm>
            <a:off x="724257" y="2473523"/>
            <a:ext cx="4301847" cy="1680210"/>
          </a:xfrm>
          <a:prstGeom prst="rect">
            <a:avLst/>
          </a:prstGeom>
          <a:noFill/>
          <a:ln/>
        </p:spPr>
        <p:txBody>
          <a:bodyPr wrap="square" lIns="0" tIns="0" rIns="0" bIns="0" rtlCol="0" anchor="t"/>
          <a:lstStyle/>
          <a:p>
            <a:pPr algn="l" indent="0" marL="0">
              <a:lnSpc>
                <a:spcPts val="2200"/>
              </a:lnSpc>
              <a:buNone/>
            </a:pPr>
            <a:r>
              <a:rPr lang="en-US" sz="1500" dirty="0">
                <a:solidFill>
                  <a:srgbClr val="D7D4CC"/>
                </a:solidFill>
                <a:latin typeface="Raleway Medium" pitchFamily="34" charset="0"/>
                <a:ea typeface="Raleway Medium" pitchFamily="34" charset="-122"/>
                <a:cs typeface="Raleway Medium" pitchFamily="34" charset="-120"/>
              </a:rPr>
              <a:t>Analyzing our sales data, </a:t>
            </a:r>
            <a:pPr algn="l" indent="0" marL="0">
              <a:lnSpc>
                <a:spcPts val="2200"/>
              </a:lnSpc>
              <a:buNone/>
            </a:pPr>
            <a:r>
              <a:rPr lang="en-US" sz="1500" b="1" dirty="0">
                <a:solidFill>
                  <a:srgbClr val="D7D4CC"/>
                </a:solidFill>
                <a:latin typeface="Raleway Medium" pitchFamily="34" charset="0"/>
                <a:ea typeface="Raleway Medium" pitchFamily="34" charset="-122"/>
                <a:cs typeface="Raleway Medium" pitchFamily="34" charset="-120"/>
              </a:rPr>
              <a:t>Electronics</a:t>
            </a:r>
            <a:pPr algn="l" indent="0" marL="0">
              <a:lnSpc>
                <a:spcPts val="2200"/>
              </a:lnSpc>
              <a:buNone/>
            </a:pPr>
            <a:r>
              <a:rPr lang="en-US" sz="1500" dirty="0">
                <a:solidFill>
                  <a:srgbClr val="D7D4CC"/>
                </a:solidFill>
                <a:latin typeface="Raleway Medium" pitchFamily="34" charset="0"/>
                <a:ea typeface="Raleway Medium" pitchFamily="34" charset="-122"/>
                <a:cs typeface="Raleway Medium" pitchFamily="34" charset="-120"/>
              </a:rPr>
              <a:t> stands out as our primary revenue driver. While it contributes significantly to our top line, a deeper dive reveals a critical insight: </a:t>
            </a:r>
            <a:pPr algn="l" indent="0" marL="0">
              <a:lnSpc>
                <a:spcPts val="2200"/>
              </a:lnSpc>
              <a:buNone/>
            </a:pPr>
            <a:r>
              <a:rPr lang="en-US" sz="1500" b="1" dirty="0">
                <a:solidFill>
                  <a:srgbClr val="D7D4CC"/>
                </a:solidFill>
                <a:latin typeface="Raleway Medium" pitchFamily="34" charset="0"/>
                <a:ea typeface="Raleway Medium" pitchFamily="34" charset="-122"/>
                <a:cs typeface="Raleway Medium" pitchFamily="34" charset="-120"/>
              </a:rPr>
              <a:t>high sales volume does not always equate to high profit margins</a:t>
            </a:r>
            <a:pPr algn="l" indent="0" marL="0">
              <a:lnSpc>
                <a:spcPts val="2200"/>
              </a:lnSpc>
              <a:buNone/>
            </a:pPr>
            <a:r>
              <a:rPr lang="en-US" sz="1500" dirty="0">
                <a:solidFill>
                  <a:srgbClr val="D7D4CC"/>
                </a:solidFill>
                <a:latin typeface="Raleway Medium" pitchFamily="34" charset="0"/>
                <a:ea typeface="Raleway Medium" pitchFamily="34" charset="-122"/>
                <a:cs typeface="Raleway Medium" pitchFamily="34" charset="-120"/>
              </a:rPr>
              <a:t>.</a:t>
            </a:r>
            <a:endParaRPr lang="en-US" sz="1500" dirty="0"/>
          </a:p>
        </p:txBody>
      </p:sp>
      <p:sp>
        <p:nvSpPr>
          <p:cNvPr id="4" name="Text 2"/>
          <p:cNvSpPr/>
          <p:nvPr/>
        </p:nvSpPr>
        <p:spPr>
          <a:xfrm>
            <a:off x="724257" y="4291846"/>
            <a:ext cx="4301847" cy="2240280"/>
          </a:xfrm>
          <a:prstGeom prst="rect">
            <a:avLst/>
          </a:prstGeom>
          <a:noFill/>
          <a:ln/>
        </p:spPr>
        <p:txBody>
          <a:bodyPr wrap="square" lIns="0" tIns="0" rIns="0" bIns="0" rtlCol="0" anchor="t"/>
          <a:lstStyle/>
          <a:p>
            <a:pPr algn="l" indent="0" marL="0">
              <a:lnSpc>
                <a:spcPts val="2200"/>
              </a:lnSpc>
              <a:buNone/>
            </a:pPr>
            <a:r>
              <a:rPr lang="en-US" sz="1500" dirty="0">
                <a:solidFill>
                  <a:srgbClr val="D7D4CC"/>
                </a:solidFill>
                <a:latin typeface="Raleway Medium" pitchFamily="34" charset="0"/>
                <a:ea typeface="Raleway Medium" pitchFamily="34" charset="-122"/>
                <a:cs typeface="Raleway Medium" pitchFamily="34" charset="-120"/>
              </a:rPr>
              <a:t>This understanding necessitates a strategic shift towards a </a:t>
            </a:r>
            <a:pPr algn="l" indent="0" marL="0">
              <a:lnSpc>
                <a:spcPts val="2200"/>
              </a:lnSpc>
              <a:buNone/>
            </a:pPr>
            <a:r>
              <a:rPr lang="en-US" sz="1500" dirty="0">
                <a:solidFill>
                  <a:srgbClr val="421424"/>
                </a:solidFill>
                <a:latin typeface="Raleway Medium" pitchFamily="34" charset="0"/>
                <a:ea typeface="Raleway Medium" pitchFamily="34" charset="-122"/>
                <a:cs typeface="Raleway Medium" pitchFamily="34" charset="-120"/>
              </a:rPr>
              <a:t>profit-first sales approach</a:t>
            </a:r>
            <a:pPr algn="l" indent="0" marL="0">
              <a:lnSpc>
                <a:spcPts val="2200"/>
              </a:lnSpc>
              <a:buNone/>
            </a:pPr>
            <a:r>
              <a:rPr lang="en-US" sz="1500" dirty="0">
                <a:solidFill>
                  <a:srgbClr val="D7D4CC"/>
                </a:solidFill>
                <a:latin typeface="Raleway Medium" pitchFamily="34" charset="0"/>
                <a:ea typeface="Raleway Medium" pitchFamily="34" charset="-122"/>
                <a:cs typeface="Raleway Medium" pitchFamily="34" charset="-120"/>
              </a:rPr>
              <a:t>. We must identify and prioritize products and categories that not only sell well but also deliver substantial bottom-line impact. This targeted strategy will ensure sustainable growth and maximized profitability across our portfolio.</a:t>
            </a:r>
            <a:endParaRPr lang="en-US" sz="1500" dirty="0"/>
          </a:p>
        </p:txBody>
      </p:sp>
      <p:pic>
        <p:nvPicPr>
          <p:cNvPr id="5" name="Image 0" descr="preencoded.png">    </p:cNvPr>
          <p:cNvPicPr>
            <a:picLocks noChangeAspect="1"/>
          </p:cNvPicPr>
          <p:nvPr/>
        </p:nvPicPr>
        <p:blipFill>
          <a:blip r:embed="rId1"/>
          <a:stretch>
            <a:fillRect/>
          </a:stretch>
        </p:blipFill>
        <p:spPr>
          <a:xfrm>
            <a:off x="5513308" y="2268379"/>
            <a:ext cx="7980283" cy="3879056"/>
          </a:xfrm>
          <a:prstGeom prst="rect">
            <a:avLst/>
          </a:prstGeom>
        </p:spPr>
      </p:pic>
      <p:sp>
        <p:nvSpPr>
          <p:cNvPr id="6" name="Shape 3"/>
          <p:cNvSpPr/>
          <p:nvPr/>
        </p:nvSpPr>
        <p:spPr>
          <a:xfrm>
            <a:off x="7497247" y="6147435"/>
            <a:ext cx="196572" cy="196572"/>
          </a:xfrm>
          <a:prstGeom prst="roundRect">
            <a:avLst>
              <a:gd name="adj" fmla="val 9303"/>
            </a:avLst>
          </a:prstGeom>
          <a:solidFill>
            <a:srgbClr val="8A7200"/>
          </a:solidFill>
          <a:ln/>
        </p:spPr>
      </p:sp>
      <p:sp>
        <p:nvSpPr>
          <p:cNvPr id="7" name="Text 4"/>
          <p:cNvSpPr/>
          <p:nvPr/>
        </p:nvSpPr>
        <p:spPr>
          <a:xfrm>
            <a:off x="7754779" y="6147435"/>
            <a:ext cx="1672471" cy="196572"/>
          </a:xfrm>
          <a:prstGeom prst="rect">
            <a:avLst/>
          </a:prstGeom>
          <a:noFill/>
          <a:ln/>
        </p:spPr>
        <p:txBody>
          <a:bodyPr wrap="none" lIns="0" tIns="0" rIns="0" bIns="0" rtlCol="0" anchor="t"/>
          <a:lstStyle/>
          <a:p>
            <a:pPr algn="l" indent="0" marL="0">
              <a:lnSpc>
                <a:spcPts val="1500"/>
              </a:lnSpc>
              <a:buNone/>
            </a:pPr>
            <a:r>
              <a:rPr lang="en-US" sz="1500" dirty="0">
                <a:solidFill>
                  <a:srgbClr val="D7D4CC"/>
                </a:solidFill>
                <a:latin typeface="Raleway Medium" pitchFamily="34" charset="0"/>
                <a:ea typeface="Raleway Medium" pitchFamily="34" charset="-122"/>
                <a:cs typeface="Raleway Medium" pitchFamily="34" charset="-120"/>
              </a:rPr>
              <a:t>Revenue (Millions)</a:t>
            </a:r>
            <a:endParaRPr lang="en-US" sz="1500" dirty="0"/>
          </a:p>
        </p:txBody>
      </p:sp>
      <p:sp>
        <p:nvSpPr>
          <p:cNvPr id="8" name="Shape 5"/>
          <p:cNvSpPr/>
          <p:nvPr/>
        </p:nvSpPr>
        <p:spPr>
          <a:xfrm>
            <a:off x="9579650" y="6147435"/>
            <a:ext cx="196572" cy="196572"/>
          </a:xfrm>
          <a:prstGeom prst="roundRect">
            <a:avLst>
              <a:gd name="adj" fmla="val 9303"/>
            </a:avLst>
          </a:prstGeom>
          <a:solidFill>
            <a:srgbClr val="FFDD38"/>
          </a:solidFill>
          <a:ln/>
        </p:spPr>
      </p:sp>
      <p:sp>
        <p:nvSpPr>
          <p:cNvPr id="9" name="Text 6"/>
          <p:cNvSpPr/>
          <p:nvPr/>
        </p:nvSpPr>
        <p:spPr>
          <a:xfrm>
            <a:off x="9837182" y="6147435"/>
            <a:ext cx="1476375" cy="196572"/>
          </a:xfrm>
          <a:prstGeom prst="rect">
            <a:avLst/>
          </a:prstGeom>
          <a:noFill/>
          <a:ln/>
        </p:spPr>
        <p:txBody>
          <a:bodyPr wrap="none" lIns="0" tIns="0" rIns="0" bIns="0" rtlCol="0" anchor="t"/>
          <a:lstStyle/>
          <a:p>
            <a:pPr algn="l" indent="0" marL="0">
              <a:lnSpc>
                <a:spcPts val="1500"/>
              </a:lnSpc>
              <a:buNone/>
            </a:pPr>
            <a:r>
              <a:rPr lang="en-US" sz="1500" dirty="0">
                <a:solidFill>
                  <a:srgbClr val="D7D4CC"/>
                </a:solidFill>
                <a:latin typeface="Raleway Medium" pitchFamily="34" charset="0"/>
                <a:ea typeface="Raleway Medium" pitchFamily="34" charset="-122"/>
                <a:cs typeface="Raleway Medium" pitchFamily="34" charset="-120"/>
              </a:rPr>
              <a:t>Profit Margin (%)</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1613" y="1043226"/>
            <a:ext cx="7633573" cy="1019175"/>
          </a:xfrm>
          <a:prstGeom prst="rect">
            <a:avLst/>
          </a:prstGeom>
          <a:noFill/>
          <a:ln/>
        </p:spPr>
        <p:txBody>
          <a:bodyPr wrap="square" lIns="0" tIns="0" rIns="0" bIns="0" rtlCol="0" anchor="t"/>
          <a:lstStyle/>
          <a:p>
            <a:pPr algn="l" indent="0" marL="0">
              <a:lnSpc>
                <a:spcPts val="4000"/>
              </a:lnSpc>
              <a:buNone/>
            </a:pPr>
            <a:r>
              <a:rPr lang="en-US" sz="3200" b="1" dirty="0">
                <a:solidFill>
                  <a:srgbClr val="FFE14D"/>
                </a:solidFill>
                <a:latin typeface="Comfortaa Bold" pitchFamily="34" charset="0"/>
                <a:ea typeface="Comfortaa Bold" pitchFamily="34" charset="-122"/>
                <a:cs typeface="Comfortaa Bold" pitchFamily="34" charset="-120"/>
              </a:rPr>
              <a:t>Optimizing Our Product Strategy for Profitability</a:t>
            </a:r>
            <a:endParaRPr lang="en-US" sz="3200" dirty="0"/>
          </a:p>
        </p:txBody>
      </p:sp>
      <p:sp>
        <p:nvSpPr>
          <p:cNvPr id="4" name="Text 1"/>
          <p:cNvSpPr/>
          <p:nvPr/>
        </p:nvSpPr>
        <p:spPr>
          <a:xfrm>
            <a:off x="6241613" y="2262783"/>
            <a:ext cx="7633573" cy="760809"/>
          </a:xfrm>
          <a:prstGeom prst="rect">
            <a:avLst/>
          </a:prstGeom>
          <a:noFill/>
          <a:ln/>
        </p:spPr>
        <p:txBody>
          <a:bodyPr wrap="square" lIns="0" tIns="0" rIns="0" bIns="0" rtlCol="0" anchor="t"/>
          <a:lstStyle/>
          <a:p>
            <a:pPr algn="l" indent="0" marL="0">
              <a:lnSpc>
                <a:spcPts val="1950"/>
              </a:lnSpc>
              <a:buNone/>
            </a:pPr>
            <a:r>
              <a:rPr lang="en-US" sz="1400" dirty="0">
                <a:solidFill>
                  <a:srgbClr val="D7D4CC"/>
                </a:solidFill>
                <a:latin typeface="Raleway Medium" pitchFamily="34" charset="0"/>
                <a:ea typeface="Raleway Medium" pitchFamily="34" charset="-122"/>
                <a:cs typeface="Raleway Medium" pitchFamily="34" charset="-120"/>
              </a:rPr>
              <a:t>To achieve our profit-first sales objective, we are refining our product strategy. This involves a clear prioritization of high-margin items and a critical review of underperforming categories.</a:t>
            </a:r>
            <a:endParaRPr lang="en-US" sz="1400" dirty="0"/>
          </a:p>
        </p:txBody>
      </p:sp>
      <p:sp>
        <p:nvSpPr>
          <p:cNvPr id="5" name="Shape 2"/>
          <p:cNvSpPr/>
          <p:nvPr/>
        </p:nvSpPr>
        <p:spPr>
          <a:xfrm>
            <a:off x="6241613" y="3173849"/>
            <a:ext cx="7633573" cy="1685806"/>
          </a:xfrm>
          <a:prstGeom prst="roundRect">
            <a:avLst>
              <a:gd name="adj" fmla="val 6509"/>
            </a:avLst>
          </a:prstGeom>
          <a:solidFill>
            <a:srgbClr val="27272B"/>
          </a:solidFill>
          <a:ln w="22860">
            <a:solidFill>
              <a:srgbClr val="5F5F63"/>
            </a:solidFill>
            <a:prstDash val="solid"/>
          </a:ln>
        </p:spPr>
      </p:sp>
      <p:sp>
        <p:nvSpPr>
          <p:cNvPr id="6" name="Shape 3"/>
          <p:cNvSpPr/>
          <p:nvPr/>
        </p:nvSpPr>
        <p:spPr>
          <a:xfrm>
            <a:off x="6218753" y="3173849"/>
            <a:ext cx="91440" cy="1685806"/>
          </a:xfrm>
          <a:prstGeom prst="roundRect">
            <a:avLst>
              <a:gd name="adj" fmla="val 300901"/>
            </a:avLst>
          </a:prstGeom>
          <a:solidFill>
            <a:srgbClr val="FFE14D"/>
          </a:solidFill>
          <a:ln/>
        </p:spPr>
      </p:sp>
      <p:sp>
        <p:nvSpPr>
          <p:cNvPr id="7" name="Text 4"/>
          <p:cNvSpPr/>
          <p:nvPr/>
        </p:nvSpPr>
        <p:spPr>
          <a:xfrm>
            <a:off x="6516410" y="3380065"/>
            <a:ext cx="2836664" cy="305633"/>
          </a:xfrm>
          <a:prstGeom prst="rect">
            <a:avLst/>
          </a:prstGeom>
          <a:noFill/>
          <a:ln/>
        </p:spPr>
        <p:txBody>
          <a:bodyPr wrap="none" lIns="0" tIns="0" rIns="0" bIns="0" rtlCol="0" anchor="t"/>
          <a:lstStyle/>
          <a:p>
            <a:pPr algn="l" indent="0" marL="0">
              <a:lnSpc>
                <a:spcPts val="2400"/>
              </a:lnSpc>
              <a:buNone/>
            </a:pPr>
            <a:r>
              <a:rPr lang="en-US" sz="1900" b="1" dirty="0">
                <a:solidFill>
                  <a:srgbClr val="D7D4CC"/>
                </a:solidFill>
                <a:latin typeface="Comfortaa Bold" pitchFamily="34" charset="0"/>
                <a:ea typeface="Comfortaa Bold" pitchFamily="34" charset="-122"/>
                <a:cs typeface="Comfortaa Bold" pitchFamily="34" charset="-120"/>
              </a:rPr>
              <a:t>High Priority Products</a:t>
            </a:r>
            <a:endParaRPr lang="en-US" sz="1900" dirty="0"/>
          </a:p>
        </p:txBody>
      </p:sp>
      <p:sp>
        <p:nvSpPr>
          <p:cNvPr id="8" name="Text 5"/>
          <p:cNvSpPr/>
          <p:nvPr/>
        </p:nvSpPr>
        <p:spPr>
          <a:xfrm>
            <a:off x="6516410" y="3765828"/>
            <a:ext cx="7152561" cy="253603"/>
          </a:xfrm>
          <a:prstGeom prst="rect">
            <a:avLst/>
          </a:prstGeom>
          <a:noFill/>
          <a:ln/>
        </p:spPr>
        <p:txBody>
          <a:bodyPr wrap="none" lIns="0" tIns="0" rIns="0" bIns="0" rtlCol="0" anchor="t"/>
          <a:lstStyle/>
          <a:p>
            <a:pPr algn="l" indent="0" marL="0">
              <a:lnSpc>
                <a:spcPts val="1950"/>
              </a:lnSpc>
              <a:buNone/>
            </a:pPr>
            <a:r>
              <a:rPr lang="en-US" sz="1400" dirty="0">
                <a:solidFill>
                  <a:srgbClr val="D7D4CC"/>
                </a:solidFill>
                <a:latin typeface="Raleway Medium" pitchFamily="34" charset="0"/>
                <a:ea typeface="Raleway Medium" pitchFamily="34" charset="-122"/>
                <a:cs typeface="Raleway Medium" pitchFamily="34" charset="-120"/>
              </a:rPr>
              <a:t>Focus our sales and marketing efforts on these categories for maximum impact:</a:t>
            </a:r>
            <a:endParaRPr lang="en-US" sz="1400" dirty="0"/>
          </a:p>
        </p:txBody>
      </p:sp>
      <p:sp>
        <p:nvSpPr>
          <p:cNvPr id="9" name="Text 6"/>
          <p:cNvSpPr/>
          <p:nvPr/>
        </p:nvSpPr>
        <p:spPr>
          <a:xfrm>
            <a:off x="6516410" y="4099560"/>
            <a:ext cx="7152561" cy="507314"/>
          </a:xfrm>
          <a:prstGeom prst="rect">
            <a:avLst/>
          </a:prstGeom>
          <a:noFill/>
          <a:ln/>
        </p:spPr>
        <p:txBody>
          <a:bodyPr wrap="square" lIns="0" tIns="0" rIns="0" bIns="0" rtlCol="0" anchor="t"/>
          <a:lstStyle/>
          <a:p>
            <a:pPr algn="l" marL="342900" indent="-342900">
              <a:lnSpc>
                <a:spcPts val="1950"/>
              </a:lnSpc>
              <a:buSzPct val="100000"/>
              <a:buChar char="•"/>
            </a:pPr>
            <a:r>
              <a:rPr lang="en-US" sz="1400" dirty="0">
                <a:solidFill>
                  <a:srgbClr val="FFB393"/>
                </a:solidFill>
                <a:latin typeface="Raleway Medium" pitchFamily="34" charset="0"/>
                <a:ea typeface="Raleway Medium" pitchFamily="34" charset="-122"/>
                <a:cs typeface="Raleway Medium" pitchFamily="34" charset="-120"/>
              </a:rPr>
              <a:t>Electronics</a:t>
            </a:r>
            <a:pPr algn="l" indent="0" marL="0">
              <a:lnSpc>
                <a:spcPts val="1950"/>
              </a:lnSpc>
              <a:buNone/>
            </a:pPr>
            <a:r>
              <a:rPr lang="en-US" sz="1400" dirty="0">
                <a:solidFill>
                  <a:srgbClr val="D7D4CC"/>
                </a:solidFill>
                <a:latin typeface="Raleway Medium" pitchFamily="34" charset="0"/>
                <a:ea typeface="Raleway Medium" pitchFamily="34" charset="-122"/>
                <a:cs typeface="Raleway Medium" pitchFamily="34" charset="-120"/>
              </a:rPr>
              <a:t>: Specifically, high-end </a:t>
            </a:r>
            <a:pPr algn="l" indent="0" marL="0">
              <a:lnSpc>
                <a:spcPts val="1950"/>
              </a:lnSpc>
              <a:buNone/>
            </a:pPr>
            <a:r>
              <a:rPr lang="en-US" sz="1400" b="1" dirty="0">
                <a:solidFill>
                  <a:srgbClr val="D7D4CC"/>
                </a:solidFill>
                <a:latin typeface="Raleway Medium" pitchFamily="34" charset="0"/>
                <a:ea typeface="Raleway Medium" pitchFamily="34" charset="-122"/>
                <a:cs typeface="Raleway Medium" pitchFamily="34" charset="-120"/>
              </a:rPr>
              <a:t>Phones</a:t>
            </a:r>
            <a:pPr algn="l" indent="0" marL="0">
              <a:lnSpc>
                <a:spcPts val="1950"/>
              </a:lnSpc>
              <a:buNone/>
            </a:pPr>
            <a:r>
              <a:rPr lang="en-US" sz="1400" dirty="0">
                <a:solidFill>
                  <a:srgbClr val="D7D4CC"/>
                </a:solidFill>
                <a:latin typeface="Raleway Medium" pitchFamily="34" charset="0"/>
                <a:ea typeface="Raleway Medium" pitchFamily="34" charset="-122"/>
                <a:cs typeface="Raleway Medium" pitchFamily="34" charset="-120"/>
              </a:rPr>
              <a:t> and advanced </a:t>
            </a:r>
            <a:pPr algn="l" indent="0" marL="0">
              <a:lnSpc>
                <a:spcPts val="1950"/>
              </a:lnSpc>
              <a:buNone/>
            </a:pPr>
            <a:r>
              <a:rPr lang="en-US" sz="1400" b="1" dirty="0">
                <a:solidFill>
                  <a:srgbClr val="D7D4CC"/>
                </a:solidFill>
                <a:latin typeface="Raleway Medium" pitchFamily="34" charset="0"/>
                <a:ea typeface="Raleway Medium" pitchFamily="34" charset="-122"/>
                <a:cs typeface="Raleway Medium" pitchFamily="34" charset="-120"/>
              </a:rPr>
              <a:t>Printers</a:t>
            </a:r>
            <a:pPr algn="l" indent="0" marL="0">
              <a:lnSpc>
                <a:spcPts val="1950"/>
              </a:lnSpc>
              <a:buNone/>
            </a:pPr>
            <a:r>
              <a:rPr lang="en-US" sz="1400" dirty="0">
                <a:solidFill>
                  <a:srgbClr val="D7D4CC"/>
                </a:solidFill>
                <a:latin typeface="Raleway Medium" pitchFamily="34" charset="0"/>
                <a:ea typeface="Raleway Medium" pitchFamily="34" charset="-122"/>
                <a:cs typeface="Raleway Medium" pitchFamily="34" charset="-120"/>
              </a:rPr>
              <a:t>.</a:t>
            </a:r>
            <a:endParaRPr lang="en-US" sz="1400" dirty="0"/>
          </a:p>
          <a:p>
            <a:pPr algn="l" marL="342900" indent="-342900">
              <a:lnSpc>
                <a:spcPts val="1950"/>
              </a:lnSpc>
              <a:buSzPct val="100000"/>
              <a:buChar char="•"/>
            </a:pPr>
            <a:r>
              <a:rPr lang="en-US" sz="1400" dirty="0">
                <a:solidFill>
                  <a:srgbClr val="FFB393"/>
                </a:solidFill>
                <a:latin typeface="Raleway Medium" pitchFamily="34" charset="0"/>
                <a:ea typeface="Raleway Medium" pitchFamily="34" charset="-122"/>
                <a:cs typeface="Raleway Medium" pitchFamily="34" charset="-120"/>
              </a:rPr>
              <a:t>Furniture</a:t>
            </a:r>
            <a:pPr algn="l" indent="0" marL="0">
              <a:lnSpc>
                <a:spcPts val="1950"/>
              </a:lnSpc>
              <a:buNone/>
            </a:pPr>
            <a:r>
              <a:rPr lang="en-US" sz="1400" dirty="0">
                <a:solidFill>
                  <a:srgbClr val="D7D4CC"/>
                </a:solidFill>
                <a:latin typeface="Raleway Medium" pitchFamily="34" charset="0"/>
                <a:ea typeface="Raleway Medium" pitchFamily="34" charset="-122"/>
                <a:cs typeface="Raleway Medium" pitchFamily="34" charset="-120"/>
              </a:rPr>
              <a:t>: Premium </a:t>
            </a:r>
            <a:pPr algn="l" indent="0" marL="0">
              <a:lnSpc>
                <a:spcPts val="1950"/>
              </a:lnSpc>
              <a:buNone/>
            </a:pPr>
            <a:r>
              <a:rPr lang="en-US" sz="1400" b="1" dirty="0">
                <a:solidFill>
                  <a:srgbClr val="D7D4CC"/>
                </a:solidFill>
                <a:latin typeface="Raleway Medium" pitchFamily="34" charset="0"/>
                <a:ea typeface="Raleway Medium" pitchFamily="34" charset="-122"/>
                <a:cs typeface="Raleway Medium" pitchFamily="34" charset="-120"/>
              </a:rPr>
              <a:t>Chairs</a:t>
            </a:r>
            <a:pPr algn="l" indent="0" marL="0">
              <a:lnSpc>
                <a:spcPts val="1950"/>
              </a:lnSpc>
              <a:buNone/>
            </a:pPr>
            <a:r>
              <a:rPr lang="en-US" sz="1400" dirty="0">
                <a:solidFill>
                  <a:srgbClr val="D7D4CC"/>
                </a:solidFill>
                <a:latin typeface="Raleway Medium" pitchFamily="34" charset="0"/>
                <a:ea typeface="Raleway Medium" pitchFamily="34" charset="-122"/>
                <a:cs typeface="Raleway Medium" pitchFamily="34" charset="-120"/>
              </a:rPr>
              <a:t> known for durability and design.</a:t>
            </a:r>
            <a:endParaRPr lang="en-US" sz="1400" dirty="0"/>
          </a:p>
        </p:txBody>
      </p:sp>
      <p:sp>
        <p:nvSpPr>
          <p:cNvPr id="10" name="Shape 7"/>
          <p:cNvSpPr/>
          <p:nvPr/>
        </p:nvSpPr>
        <p:spPr>
          <a:xfrm>
            <a:off x="6241613" y="4946678"/>
            <a:ext cx="7633573" cy="2193012"/>
          </a:xfrm>
          <a:prstGeom prst="roundRect">
            <a:avLst>
              <a:gd name="adj" fmla="val 5004"/>
            </a:avLst>
          </a:prstGeom>
          <a:solidFill>
            <a:srgbClr val="27272B"/>
          </a:solidFill>
          <a:ln w="22860">
            <a:solidFill>
              <a:srgbClr val="5F5F63"/>
            </a:solidFill>
            <a:prstDash val="solid"/>
          </a:ln>
        </p:spPr>
      </p:sp>
      <p:sp>
        <p:nvSpPr>
          <p:cNvPr id="11" name="Shape 8"/>
          <p:cNvSpPr/>
          <p:nvPr/>
        </p:nvSpPr>
        <p:spPr>
          <a:xfrm>
            <a:off x="6218753" y="4946678"/>
            <a:ext cx="91440" cy="2193012"/>
          </a:xfrm>
          <a:prstGeom prst="roundRect">
            <a:avLst>
              <a:gd name="adj" fmla="val 300901"/>
            </a:avLst>
          </a:prstGeom>
          <a:solidFill>
            <a:srgbClr val="FFE14D"/>
          </a:solidFill>
          <a:ln/>
        </p:spPr>
      </p:sp>
      <p:sp>
        <p:nvSpPr>
          <p:cNvPr id="12" name="Text 9"/>
          <p:cNvSpPr/>
          <p:nvPr/>
        </p:nvSpPr>
        <p:spPr>
          <a:xfrm>
            <a:off x="6516410" y="5152894"/>
            <a:ext cx="2935486" cy="305633"/>
          </a:xfrm>
          <a:prstGeom prst="rect">
            <a:avLst/>
          </a:prstGeom>
          <a:noFill/>
          <a:ln/>
        </p:spPr>
        <p:txBody>
          <a:bodyPr wrap="none" lIns="0" tIns="0" rIns="0" bIns="0" rtlCol="0" anchor="t"/>
          <a:lstStyle/>
          <a:p>
            <a:pPr algn="l" indent="0" marL="0">
              <a:lnSpc>
                <a:spcPts val="2400"/>
              </a:lnSpc>
              <a:buNone/>
            </a:pPr>
            <a:r>
              <a:rPr lang="en-US" sz="1900" b="1" dirty="0">
                <a:solidFill>
                  <a:srgbClr val="D7D4CC"/>
                </a:solidFill>
                <a:latin typeface="Comfortaa Bold" pitchFamily="34" charset="0"/>
                <a:ea typeface="Comfortaa Bold" pitchFamily="34" charset="-122"/>
                <a:cs typeface="Comfortaa Bold" pitchFamily="34" charset="-120"/>
              </a:rPr>
              <a:t>Products Under Review</a:t>
            </a:r>
            <a:endParaRPr lang="en-US" sz="1900" dirty="0"/>
          </a:p>
        </p:txBody>
      </p:sp>
      <p:sp>
        <p:nvSpPr>
          <p:cNvPr id="13" name="Text 10"/>
          <p:cNvSpPr/>
          <p:nvPr/>
        </p:nvSpPr>
        <p:spPr>
          <a:xfrm>
            <a:off x="6516410" y="5538657"/>
            <a:ext cx="7152561" cy="507206"/>
          </a:xfrm>
          <a:prstGeom prst="rect">
            <a:avLst/>
          </a:prstGeom>
          <a:noFill/>
          <a:ln/>
        </p:spPr>
        <p:txBody>
          <a:bodyPr wrap="square" lIns="0" tIns="0" rIns="0" bIns="0" rtlCol="0" anchor="t"/>
          <a:lstStyle/>
          <a:p>
            <a:pPr algn="l" indent="0" marL="0">
              <a:lnSpc>
                <a:spcPts val="1950"/>
              </a:lnSpc>
              <a:buNone/>
            </a:pPr>
            <a:r>
              <a:rPr lang="en-US" sz="1400" dirty="0">
                <a:solidFill>
                  <a:srgbClr val="D7D4CC"/>
                </a:solidFill>
                <a:latin typeface="Raleway Medium" pitchFamily="34" charset="0"/>
                <a:ea typeface="Raleway Medium" pitchFamily="34" charset="-122"/>
                <a:cs typeface="Raleway Medium" pitchFamily="34" charset="-120"/>
              </a:rPr>
              <a:t>Evaluate and strategize on these categories to either improve profitability or consider discontinuation:</a:t>
            </a:r>
            <a:endParaRPr lang="en-US" sz="1400" dirty="0"/>
          </a:p>
        </p:txBody>
      </p:sp>
      <p:sp>
        <p:nvSpPr>
          <p:cNvPr id="14" name="Text 11"/>
          <p:cNvSpPr/>
          <p:nvPr/>
        </p:nvSpPr>
        <p:spPr>
          <a:xfrm>
            <a:off x="6516410" y="6125992"/>
            <a:ext cx="7152561" cy="760971"/>
          </a:xfrm>
          <a:prstGeom prst="rect">
            <a:avLst/>
          </a:prstGeom>
          <a:noFill/>
          <a:ln/>
        </p:spPr>
        <p:txBody>
          <a:bodyPr wrap="square" lIns="0" tIns="0" rIns="0" bIns="0" rtlCol="0" anchor="t"/>
          <a:lstStyle/>
          <a:p>
            <a:pPr algn="l" marL="342900" indent="-342900">
              <a:lnSpc>
                <a:spcPts val="1950"/>
              </a:lnSpc>
              <a:buSzPct val="100000"/>
              <a:buChar char="•"/>
            </a:pPr>
            <a:r>
              <a:rPr lang="en-US" sz="1400" b="1" dirty="0">
                <a:solidFill>
                  <a:srgbClr val="D7D4CC"/>
                </a:solidFill>
                <a:latin typeface="Raleway Medium" pitchFamily="34" charset="0"/>
                <a:ea typeface="Raleway Medium" pitchFamily="34" charset="-122"/>
                <a:cs typeface="Raleway Medium" pitchFamily="34" charset="-120"/>
              </a:rPr>
              <a:t>Bookcases</a:t>
            </a:r>
            <a:pPr algn="l" indent="0" marL="0">
              <a:lnSpc>
                <a:spcPts val="1950"/>
              </a:lnSpc>
              <a:buNone/>
            </a:pPr>
            <a:r>
              <a:rPr lang="en-US" sz="1400" dirty="0">
                <a:solidFill>
                  <a:srgbClr val="D7D4CC"/>
                </a:solidFill>
                <a:latin typeface="Raleway Medium" pitchFamily="34" charset="0"/>
                <a:ea typeface="Raleway Medium" pitchFamily="34" charset="-122"/>
                <a:cs typeface="Raleway Medium" pitchFamily="34" charset="-120"/>
              </a:rPr>
              <a:t>: Assess market demand and cost efficiency.</a:t>
            </a:r>
            <a:endParaRPr lang="en-US" sz="1400" dirty="0"/>
          </a:p>
          <a:p>
            <a:pPr algn="l" marL="342900" indent="-342900">
              <a:lnSpc>
                <a:spcPts val="1950"/>
              </a:lnSpc>
              <a:buSzPct val="100000"/>
              <a:buChar char="•"/>
            </a:pPr>
            <a:r>
              <a:rPr lang="en-US" sz="1400" b="1" dirty="0">
                <a:solidFill>
                  <a:srgbClr val="D7D4CC"/>
                </a:solidFill>
                <a:latin typeface="Raleway Medium" pitchFamily="34" charset="0"/>
                <a:ea typeface="Raleway Medium" pitchFamily="34" charset="-122"/>
                <a:cs typeface="Raleway Medium" pitchFamily="34" charset="-120"/>
              </a:rPr>
              <a:t>Low-margin electronics</a:t>
            </a:r>
            <a:pPr algn="l" indent="0" marL="0">
              <a:lnSpc>
                <a:spcPts val="1950"/>
              </a:lnSpc>
              <a:buNone/>
            </a:pPr>
            <a:r>
              <a:rPr lang="en-US" sz="1400" dirty="0">
                <a:solidFill>
                  <a:srgbClr val="D7D4CC"/>
                </a:solidFill>
                <a:latin typeface="Raleway Medium" pitchFamily="34" charset="0"/>
                <a:ea typeface="Raleway Medium" pitchFamily="34" charset="-122"/>
                <a:cs typeface="Raleway Medium" pitchFamily="34" charset="-120"/>
              </a:rPr>
              <a:t>: Identify specific items with unfavorable profit margins and develop mitigation plans.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8281" y="1187410"/>
            <a:ext cx="7620238" cy="967502"/>
          </a:xfrm>
          <a:prstGeom prst="rect">
            <a:avLst/>
          </a:prstGeom>
          <a:noFill/>
          <a:ln/>
        </p:spPr>
        <p:txBody>
          <a:bodyPr wrap="square" lIns="0" tIns="0" rIns="0" bIns="0" rtlCol="0" anchor="t"/>
          <a:lstStyle/>
          <a:p>
            <a:pPr algn="l" indent="0" marL="0">
              <a:lnSpc>
                <a:spcPts val="3800"/>
              </a:lnSpc>
              <a:buNone/>
            </a:pPr>
            <a:r>
              <a:rPr lang="en-US" sz="3000" b="1" dirty="0">
                <a:solidFill>
                  <a:srgbClr val="FFE14D"/>
                </a:solidFill>
                <a:latin typeface="Comfortaa Bold" pitchFamily="34" charset="0"/>
                <a:ea typeface="Comfortaa Bold" pitchFamily="34" charset="-122"/>
                <a:cs typeface="Comfortaa Bold" pitchFamily="34" charset="-120"/>
              </a:rPr>
              <a:t>Strategic Regional Growth: Targeting Key Markets</a:t>
            </a:r>
            <a:endParaRPr lang="en-US" sz="3000" dirty="0"/>
          </a:p>
        </p:txBody>
      </p:sp>
      <p:sp>
        <p:nvSpPr>
          <p:cNvPr id="4" name="Text 1"/>
          <p:cNvSpPr/>
          <p:nvPr/>
        </p:nvSpPr>
        <p:spPr>
          <a:xfrm>
            <a:off x="6248281" y="2335530"/>
            <a:ext cx="7620238" cy="707231"/>
          </a:xfrm>
          <a:prstGeom prst="rect">
            <a:avLst/>
          </a:prstGeom>
          <a:noFill/>
          <a:ln/>
        </p:spPr>
        <p:txBody>
          <a:bodyPr wrap="square" lIns="0" tIns="0" rIns="0" bIns="0" rtlCol="0" anchor="t"/>
          <a:lstStyle/>
          <a:p>
            <a:pPr algn="l" indent="0" marL="0">
              <a:lnSpc>
                <a:spcPts val="1850"/>
              </a:lnSpc>
              <a:buNone/>
            </a:pPr>
            <a:r>
              <a:rPr lang="en-US" sz="1350" dirty="0">
                <a:solidFill>
                  <a:srgbClr val="D7D4CC"/>
                </a:solidFill>
                <a:latin typeface="Raleway Medium" pitchFamily="34" charset="0"/>
                <a:ea typeface="Raleway Medium" pitchFamily="34" charset="-122"/>
                <a:cs typeface="Raleway Medium" pitchFamily="34" charset="-120"/>
              </a:rPr>
              <a:t>Our regional growth strategy is centered on maximizing presence and performance in our strongest markets while cultivating emerging opportunities. This geographical focus ensures efficient resource allocation and tailored approaches for each region.</a:t>
            </a:r>
            <a:endParaRPr lang="en-US" sz="1350" dirty="0"/>
          </a:p>
        </p:txBody>
      </p:sp>
      <p:sp>
        <p:nvSpPr>
          <p:cNvPr id="5" name="Shape 2"/>
          <p:cNvSpPr/>
          <p:nvPr/>
        </p:nvSpPr>
        <p:spPr>
          <a:xfrm>
            <a:off x="6248281" y="3178254"/>
            <a:ext cx="7620238" cy="3863816"/>
          </a:xfrm>
          <a:prstGeom prst="roundRect">
            <a:avLst>
              <a:gd name="adj" fmla="val 6761"/>
            </a:avLst>
          </a:prstGeom>
          <a:solidFill>
            <a:srgbClr val="46464A"/>
          </a:solidFill>
          <a:ln/>
        </p:spPr>
      </p:sp>
      <p:sp>
        <p:nvSpPr>
          <p:cNvPr id="6" name="Shape 3"/>
          <p:cNvSpPr/>
          <p:nvPr/>
        </p:nvSpPr>
        <p:spPr>
          <a:xfrm>
            <a:off x="6248281" y="3178254"/>
            <a:ext cx="7620238" cy="2070854"/>
          </a:xfrm>
          <a:prstGeom prst="roundRect">
            <a:avLst>
              <a:gd name="adj" fmla="val 12615"/>
            </a:avLst>
          </a:prstGeom>
          <a:solidFill>
            <a:srgbClr val="46464A"/>
          </a:solidFill>
          <a:ln/>
        </p:spPr>
      </p:sp>
      <p:sp>
        <p:nvSpPr>
          <p:cNvPr id="7" name="Text 4"/>
          <p:cNvSpPr/>
          <p:nvPr/>
        </p:nvSpPr>
        <p:spPr>
          <a:xfrm>
            <a:off x="6368653" y="3298627"/>
            <a:ext cx="2420303" cy="241816"/>
          </a:xfrm>
          <a:prstGeom prst="rect">
            <a:avLst/>
          </a:prstGeom>
          <a:noFill/>
          <a:ln/>
        </p:spPr>
        <p:txBody>
          <a:bodyPr wrap="none" lIns="0" tIns="0" rIns="0" bIns="0" rtlCol="0" anchor="t"/>
          <a:lstStyle/>
          <a:p>
            <a:pPr algn="l" indent="0" marL="0">
              <a:lnSpc>
                <a:spcPts val="1900"/>
              </a:lnSpc>
              <a:buNone/>
            </a:pPr>
            <a:r>
              <a:rPr lang="en-US" sz="1500" b="1" dirty="0">
                <a:solidFill>
                  <a:srgbClr val="D7D4CC"/>
                </a:solidFill>
                <a:latin typeface="Comfortaa Bold" pitchFamily="34" charset="0"/>
                <a:ea typeface="Comfortaa Bold" pitchFamily="34" charset="-122"/>
                <a:cs typeface="Comfortaa Bold" pitchFamily="34" charset="-120"/>
              </a:rPr>
              <a:t>Top Performing Markets</a:t>
            </a:r>
            <a:endParaRPr lang="en-US" sz="1500" dirty="0"/>
          </a:p>
        </p:txBody>
      </p:sp>
      <p:sp>
        <p:nvSpPr>
          <p:cNvPr id="8" name="Text 5"/>
          <p:cNvSpPr/>
          <p:nvPr/>
        </p:nvSpPr>
        <p:spPr>
          <a:xfrm>
            <a:off x="6368653" y="3612713"/>
            <a:ext cx="7379494" cy="471488"/>
          </a:xfrm>
          <a:prstGeom prst="rect">
            <a:avLst/>
          </a:prstGeom>
          <a:noFill/>
          <a:ln/>
        </p:spPr>
        <p:txBody>
          <a:bodyPr wrap="square" lIns="0" tIns="0" rIns="0" bIns="0" rtlCol="0" anchor="t"/>
          <a:lstStyle/>
          <a:p>
            <a:pPr algn="l" indent="0" marL="0">
              <a:lnSpc>
                <a:spcPts val="1850"/>
              </a:lnSpc>
              <a:buNone/>
            </a:pPr>
            <a:r>
              <a:rPr lang="en-US" sz="1350" dirty="0">
                <a:solidFill>
                  <a:srgbClr val="D7D4CC"/>
                </a:solidFill>
                <a:latin typeface="Raleway Medium" pitchFamily="34" charset="0"/>
                <a:ea typeface="Raleway Medium" pitchFamily="34" charset="-122"/>
                <a:cs typeface="Raleway Medium" pitchFamily="34" charset="-120"/>
              </a:rPr>
              <a:t>These regions have consistently delivered strong sales and will be integral to our core strategy. We will continue to invest and deepen our market penetration here.</a:t>
            </a:r>
            <a:endParaRPr lang="en-US" sz="1350" dirty="0"/>
          </a:p>
        </p:txBody>
      </p:sp>
      <p:sp>
        <p:nvSpPr>
          <p:cNvPr id="9" name="Text 6"/>
          <p:cNvSpPr/>
          <p:nvPr/>
        </p:nvSpPr>
        <p:spPr>
          <a:xfrm>
            <a:off x="6368653" y="4156472"/>
            <a:ext cx="7379494" cy="707126"/>
          </a:xfrm>
          <a:prstGeom prst="rect">
            <a:avLst/>
          </a:prstGeom>
          <a:noFill/>
          <a:ln/>
        </p:spPr>
        <p:txBody>
          <a:bodyPr wrap="square" lIns="0" tIns="0" rIns="0" bIns="0" rtlCol="0" anchor="t"/>
          <a:lstStyle/>
          <a:p>
            <a:pPr algn="l" marL="342900" indent="-342900">
              <a:lnSpc>
                <a:spcPts val="1850"/>
              </a:lnSpc>
              <a:buSzPct val="100000"/>
              <a:buChar char="•"/>
            </a:pPr>
            <a:r>
              <a:rPr lang="en-US" sz="1350" b="1" dirty="0">
                <a:solidFill>
                  <a:srgbClr val="D7D4CC"/>
                </a:solidFill>
                <a:latin typeface="Raleway Medium" pitchFamily="34" charset="0"/>
                <a:ea typeface="Raleway Medium" pitchFamily="34" charset="-122"/>
                <a:cs typeface="Raleway Medium" pitchFamily="34" charset="-120"/>
              </a:rPr>
              <a:t>Maharashtra</a:t>
            </a:r>
            <a:endParaRPr lang="en-US" sz="1350" dirty="0"/>
          </a:p>
          <a:p>
            <a:pPr algn="l" marL="342900" indent="-342900">
              <a:lnSpc>
                <a:spcPts val="1850"/>
              </a:lnSpc>
              <a:buSzPct val="100000"/>
              <a:buChar char="•"/>
            </a:pPr>
            <a:r>
              <a:rPr lang="en-US" sz="1350" b="1" dirty="0">
                <a:solidFill>
                  <a:srgbClr val="D7D4CC"/>
                </a:solidFill>
                <a:latin typeface="Raleway Medium" pitchFamily="34" charset="0"/>
                <a:ea typeface="Raleway Medium" pitchFamily="34" charset="-122"/>
                <a:cs typeface="Raleway Medium" pitchFamily="34" charset="-120"/>
              </a:rPr>
              <a:t>Delhi</a:t>
            </a:r>
            <a:endParaRPr lang="en-US" sz="1350" dirty="0"/>
          </a:p>
          <a:p>
            <a:pPr algn="l" marL="342900" indent="-342900">
              <a:lnSpc>
                <a:spcPts val="1850"/>
              </a:lnSpc>
              <a:buSzPct val="100000"/>
              <a:buChar char="•"/>
            </a:pPr>
            <a:r>
              <a:rPr lang="en-US" sz="1350" b="1" dirty="0">
                <a:solidFill>
                  <a:srgbClr val="D7D4CC"/>
                </a:solidFill>
                <a:latin typeface="Raleway Medium" pitchFamily="34" charset="0"/>
                <a:ea typeface="Raleway Medium" pitchFamily="34" charset="-122"/>
                <a:cs typeface="Raleway Medium" pitchFamily="34" charset="-120"/>
              </a:rPr>
              <a:t>Uttar Pradesh</a:t>
            </a:r>
            <a:endParaRPr lang="en-US" sz="1350" dirty="0"/>
          </a:p>
        </p:txBody>
      </p:sp>
      <p:sp>
        <p:nvSpPr>
          <p:cNvPr id="10" name="Shape 7"/>
          <p:cNvSpPr/>
          <p:nvPr/>
        </p:nvSpPr>
        <p:spPr>
          <a:xfrm>
            <a:off x="6248281" y="5164707"/>
            <a:ext cx="7620238" cy="1792962"/>
          </a:xfrm>
          <a:prstGeom prst="rect">
            <a:avLst/>
          </a:prstGeom>
          <a:solidFill>
            <a:srgbClr val="46464A"/>
          </a:solidFill>
          <a:ln/>
        </p:spPr>
      </p:sp>
      <p:sp>
        <p:nvSpPr>
          <p:cNvPr id="11" name="Shape 8"/>
          <p:cNvSpPr/>
          <p:nvPr/>
        </p:nvSpPr>
        <p:spPr>
          <a:xfrm>
            <a:off x="6248281" y="5164707"/>
            <a:ext cx="7620238" cy="22860"/>
          </a:xfrm>
          <a:prstGeom prst="roundRect">
            <a:avLst>
              <a:gd name="adj" fmla="val 1142780"/>
            </a:avLst>
          </a:prstGeom>
          <a:solidFill>
            <a:srgbClr val="5F5F63"/>
          </a:solidFill>
          <a:ln/>
        </p:spPr>
      </p:sp>
      <p:sp>
        <p:nvSpPr>
          <p:cNvPr id="12" name="Shape 9"/>
          <p:cNvSpPr/>
          <p:nvPr/>
        </p:nvSpPr>
        <p:spPr>
          <a:xfrm>
            <a:off x="9840635" y="4958491"/>
            <a:ext cx="435293" cy="435293"/>
          </a:xfrm>
          <a:prstGeom prst="roundRect">
            <a:avLst>
              <a:gd name="adj" fmla="val 60015"/>
            </a:avLst>
          </a:prstGeom>
          <a:solidFill>
            <a:srgbClr val="27272B"/>
          </a:solidFill>
          <a:ln w="22860">
            <a:solidFill>
              <a:srgbClr val="5F5F63"/>
            </a:solidFill>
            <a:prstDash val="solid"/>
          </a:ln>
        </p:spPr>
      </p:sp>
      <p:pic>
        <p:nvPicPr>
          <p:cNvPr id="1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49458" y="5067195"/>
            <a:ext cx="217646" cy="217646"/>
          </a:xfrm>
          <a:prstGeom prst="rect">
            <a:avLst/>
          </a:prstGeom>
        </p:spPr>
      </p:pic>
      <p:sp>
        <p:nvSpPr>
          <p:cNvPr id="14" name="Text 10"/>
          <p:cNvSpPr/>
          <p:nvPr/>
        </p:nvSpPr>
        <p:spPr>
          <a:xfrm>
            <a:off x="6368653" y="5465816"/>
            <a:ext cx="2864763" cy="241816"/>
          </a:xfrm>
          <a:prstGeom prst="rect">
            <a:avLst/>
          </a:prstGeom>
          <a:noFill/>
          <a:ln/>
        </p:spPr>
        <p:txBody>
          <a:bodyPr wrap="none" lIns="0" tIns="0" rIns="0" bIns="0" rtlCol="0" anchor="t"/>
          <a:lstStyle/>
          <a:p>
            <a:pPr algn="l" indent="0" marL="0">
              <a:lnSpc>
                <a:spcPts val="1900"/>
              </a:lnSpc>
              <a:buNone/>
            </a:pPr>
            <a:r>
              <a:rPr lang="en-US" sz="1500" b="1" dirty="0">
                <a:solidFill>
                  <a:srgbClr val="D7D4CC"/>
                </a:solidFill>
                <a:latin typeface="Comfortaa Bold" pitchFamily="34" charset="0"/>
                <a:ea typeface="Comfortaa Bold" pitchFamily="34" charset="-122"/>
                <a:cs typeface="Comfortaa Bold" pitchFamily="34" charset="-120"/>
              </a:rPr>
              <a:t>High-Potential Growth Areas</a:t>
            </a:r>
            <a:endParaRPr lang="en-US" sz="1500" dirty="0"/>
          </a:p>
        </p:txBody>
      </p:sp>
      <p:sp>
        <p:nvSpPr>
          <p:cNvPr id="15" name="Text 11"/>
          <p:cNvSpPr/>
          <p:nvPr/>
        </p:nvSpPr>
        <p:spPr>
          <a:xfrm>
            <a:off x="6368653" y="5779903"/>
            <a:ext cx="7379494" cy="471488"/>
          </a:xfrm>
          <a:prstGeom prst="rect">
            <a:avLst/>
          </a:prstGeom>
          <a:noFill/>
          <a:ln/>
        </p:spPr>
        <p:txBody>
          <a:bodyPr wrap="square" lIns="0" tIns="0" rIns="0" bIns="0" rtlCol="0" anchor="t"/>
          <a:lstStyle/>
          <a:p>
            <a:pPr algn="l" indent="0" marL="0">
              <a:lnSpc>
                <a:spcPts val="1850"/>
              </a:lnSpc>
              <a:buNone/>
            </a:pPr>
            <a:r>
              <a:rPr lang="en-US" sz="1350" dirty="0">
                <a:solidFill>
                  <a:srgbClr val="D7D4CC"/>
                </a:solidFill>
                <a:latin typeface="Raleway Medium" pitchFamily="34" charset="0"/>
                <a:ea typeface="Raleway Medium" pitchFamily="34" charset="-122"/>
                <a:cs typeface="Raleway Medium" pitchFamily="34" charset="-120"/>
              </a:rPr>
              <a:t>These markets show significant potential for expansion and will be targeted for strategic development initiatives. Focused campaigns and increased sales presence are planned.</a:t>
            </a:r>
            <a:endParaRPr lang="en-US" sz="1350" dirty="0"/>
          </a:p>
        </p:txBody>
      </p:sp>
      <p:sp>
        <p:nvSpPr>
          <p:cNvPr id="16" name="Text 12"/>
          <p:cNvSpPr/>
          <p:nvPr/>
        </p:nvSpPr>
        <p:spPr>
          <a:xfrm>
            <a:off x="6368653" y="6323661"/>
            <a:ext cx="7379494" cy="471417"/>
          </a:xfrm>
          <a:prstGeom prst="rect">
            <a:avLst/>
          </a:prstGeom>
          <a:noFill/>
          <a:ln/>
        </p:spPr>
        <p:txBody>
          <a:bodyPr wrap="square" lIns="0" tIns="0" rIns="0" bIns="0" rtlCol="0" anchor="t"/>
          <a:lstStyle/>
          <a:p>
            <a:pPr algn="l" marL="342900" indent="-342900">
              <a:lnSpc>
                <a:spcPts val="1850"/>
              </a:lnSpc>
              <a:buSzPct val="100000"/>
              <a:buChar char="•"/>
            </a:pPr>
            <a:r>
              <a:rPr lang="en-US" sz="1350" b="1" dirty="0">
                <a:solidFill>
                  <a:srgbClr val="D7D4CC"/>
                </a:solidFill>
                <a:latin typeface="Raleway Medium" pitchFamily="34" charset="0"/>
                <a:ea typeface="Raleway Medium" pitchFamily="34" charset="-122"/>
                <a:cs typeface="Raleway Medium" pitchFamily="34" charset="-120"/>
              </a:rPr>
              <a:t>Rajasthan</a:t>
            </a:r>
            <a:endParaRPr lang="en-US" sz="1350" dirty="0"/>
          </a:p>
          <a:p>
            <a:pPr algn="l" marL="342900" indent="-342900">
              <a:lnSpc>
                <a:spcPts val="1850"/>
              </a:lnSpc>
              <a:buSzPct val="100000"/>
              <a:buChar char="•"/>
            </a:pPr>
            <a:r>
              <a:rPr lang="en-US" sz="1350" b="1" dirty="0">
                <a:solidFill>
                  <a:srgbClr val="D7D4CC"/>
                </a:solidFill>
                <a:latin typeface="Raleway Medium" pitchFamily="34" charset="0"/>
                <a:ea typeface="Raleway Medium" pitchFamily="34" charset="-122"/>
                <a:cs typeface="Raleway Medium" pitchFamily="34" charset="-120"/>
              </a:rPr>
              <a:t>Madhya Pradesh</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83193" y="1290399"/>
            <a:ext cx="13064014" cy="1243251"/>
          </a:xfrm>
          <a:prstGeom prst="rect">
            <a:avLst/>
          </a:prstGeom>
          <a:noFill/>
          <a:ln/>
        </p:spPr>
        <p:txBody>
          <a:bodyPr wrap="square" lIns="0" tIns="0" rIns="0" bIns="0" rtlCol="0" anchor="t"/>
          <a:lstStyle/>
          <a:p>
            <a:pPr algn="l" indent="0" marL="0">
              <a:lnSpc>
                <a:spcPts val="4850"/>
              </a:lnSpc>
              <a:buNone/>
            </a:pPr>
            <a:r>
              <a:rPr lang="en-US" sz="3900" b="1" dirty="0">
                <a:solidFill>
                  <a:srgbClr val="FFE14D"/>
                </a:solidFill>
                <a:latin typeface="Comfortaa Bold" pitchFamily="34" charset="0"/>
                <a:ea typeface="Comfortaa Bold" pitchFamily="34" charset="-122"/>
                <a:cs typeface="Comfortaa Bold" pitchFamily="34" charset="-120"/>
              </a:rPr>
              <a:t>Enhancing Customer Experience Through Payment &amp; Loyalty Strategies</a:t>
            </a:r>
            <a:endParaRPr lang="en-US" sz="3900" dirty="0"/>
          </a:p>
        </p:txBody>
      </p:sp>
      <p:sp>
        <p:nvSpPr>
          <p:cNvPr id="3" name="Text 1"/>
          <p:cNvSpPr/>
          <p:nvPr/>
        </p:nvSpPr>
        <p:spPr>
          <a:xfrm>
            <a:off x="783193" y="2931438"/>
            <a:ext cx="13064014" cy="676275"/>
          </a:xfrm>
          <a:prstGeom prst="rect">
            <a:avLst/>
          </a:prstGeom>
          <a:noFill/>
          <a:ln/>
        </p:spPr>
        <p:txBody>
          <a:bodyPr wrap="square" lIns="0" tIns="0" rIns="0" bIns="0" rtlCol="0" anchor="t"/>
          <a:lstStyle/>
          <a:p>
            <a:pPr algn="l" indent="0" marL="0">
              <a:lnSpc>
                <a:spcPts val="2650"/>
              </a:lnSpc>
              <a:buNone/>
            </a:pPr>
            <a:r>
              <a:rPr lang="en-US" sz="1750" dirty="0">
                <a:solidFill>
                  <a:srgbClr val="D7D4CC"/>
                </a:solidFill>
                <a:latin typeface="Raleway Medium" pitchFamily="34" charset="0"/>
                <a:ea typeface="Raleway Medium" pitchFamily="34" charset="-122"/>
                <a:cs typeface="Raleway Medium" pitchFamily="34" charset="-120"/>
              </a:rPr>
              <a:t>Our payment and customer retention strategies are designed to boost order values and foster long-term loyalty. By understanding customer payment preferences, we can strategically influence purchase behavior and reinforce relationships.</a:t>
            </a:r>
            <a:endParaRPr lang="en-US" sz="17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3193" y="3831431"/>
            <a:ext cx="559475" cy="559475"/>
          </a:xfrm>
          <a:prstGeom prst="rect">
            <a:avLst/>
          </a:prstGeom>
        </p:spPr>
      </p:pic>
      <p:sp>
        <p:nvSpPr>
          <p:cNvPr id="5" name="Text 2"/>
          <p:cNvSpPr/>
          <p:nvPr/>
        </p:nvSpPr>
        <p:spPr>
          <a:xfrm>
            <a:off x="1591270" y="3831431"/>
            <a:ext cx="3380780" cy="621506"/>
          </a:xfrm>
          <a:prstGeom prst="rect">
            <a:avLst/>
          </a:prstGeom>
          <a:noFill/>
          <a:ln/>
        </p:spPr>
        <p:txBody>
          <a:bodyPr wrap="square" lIns="0" tIns="0" rIns="0" bIns="0" rtlCol="0" anchor="t"/>
          <a:lstStyle/>
          <a:p>
            <a:pPr algn="l" indent="0" marL="0">
              <a:lnSpc>
                <a:spcPts val="2400"/>
              </a:lnSpc>
              <a:buNone/>
            </a:pPr>
            <a:r>
              <a:rPr lang="en-US" sz="1950" b="1" dirty="0">
                <a:solidFill>
                  <a:srgbClr val="D7D4CC"/>
                </a:solidFill>
                <a:latin typeface="Comfortaa Bold" pitchFamily="34" charset="0"/>
                <a:ea typeface="Comfortaa Bold" pitchFamily="34" charset="-122"/>
                <a:cs typeface="Comfortaa Bold" pitchFamily="34" charset="-120"/>
              </a:rPr>
              <a:t>EMI &amp; Credit Card Options</a:t>
            </a:r>
            <a:endParaRPr lang="en-US" sz="1950" dirty="0"/>
          </a:p>
        </p:txBody>
      </p:sp>
      <p:sp>
        <p:nvSpPr>
          <p:cNvPr id="6" name="Text 3"/>
          <p:cNvSpPr/>
          <p:nvPr/>
        </p:nvSpPr>
        <p:spPr>
          <a:xfrm>
            <a:off x="1591270" y="4572238"/>
            <a:ext cx="3380780" cy="2366962"/>
          </a:xfrm>
          <a:prstGeom prst="rect">
            <a:avLst/>
          </a:prstGeom>
          <a:noFill/>
          <a:ln/>
        </p:spPr>
        <p:txBody>
          <a:bodyPr wrap="square" lIns="0" tIns="0" rIns="0" bIns="0" rtlCol="0" anchor="t"/>
          <a:lstStyle/>
          <a:p>
            <a:pPr algn="l" indent="0" marL="0">
              <a:lnSpc>
                <a:spcPts val="2650"/>
              </a:lnSpc>
              <a:buNone/>
            </a:pPr>
            <a:r>
              <a:rPr lang="en-US" sz="1750" dirty="0">
                <a:solidFill>
                  <a:srgbClr val="D7D4CC"/>
                </a:solidFill>
                <a:latin typeface="Raleway Medium" pitchFamily="34" charset="0"/>
                <a:ea typeface="Raleway Medium" pitchFamily="34" charset="-122"/>
                <a:cs typeface="Raleway Medium" pitchFamily="34" charset="-120"/>
              </a:rPr>
              <a:t>Promoting </a:t>
            </a:r>
            <a:pPr algn="l" indent="0" marL="0">
              <a:lnSpc>
                <a:spcPts val="2650"/>
              </a:lnSpc>
              <a:buNone/>
            </a:pPr>
            <a:r>
              <a:rPr lang="en-US" sz="1750" b="1" dirty="0">
                <a:solidFill>
                  <a:srgbClr val="D7D4CC"/>
                </a:solidFill>
                <a:latin typeface="Raleway Medium" pitchFamily="34" charset="0"/>
                <a:ea typeface="Raleway Medium" pitchFamily="34" charset="-122"/>
                <a:cs typeface="Raleway Medium" pitchFamily="34" charset="-120"/>
              </a:rPr>
              <a:t>Equated Monthly Installments (EMI)</a:t>
            </a:r>
            <a:pPr algn="l" indent="0" marL="0">
              <a:lnSpc>
                <a:spcPts val="2650"/>
              </a:lnSpc>
              <a:buNone/>
            </a:pPr>
            <a:r>
              <a:rPr lang="en-US" sz="1750" dirty="0">
                <a:solidFill>
                  <a:srgbClr val="D7D4CC"/>
                </a:solidFill>
                <a:latin typeface="Raleway Medium" pitchFamily="34" charset="0"/>
                <a:ea typeface="Raleway Medium" pitchFamily="34" charset="-122"/>
                <a:cs typeface="Raleway Medium" pitchFamily="34" charset="-120"/>
              </a:rPr>
              <a:t> and </a:t>
            </a:r>
            <a:pPr algn="l" indent="0" marL="0">
              <a:lnSpc>
                <a:spcPts val="2650"/>
              </a:lnSpc>
              <a:buNone/>
            </a:pPr>
            <a:r>
              <a:rPr lang="en-US" sz="1750" b="1" dirty="0">
                <a:solidFill>
                  <a:srgbClr val="D7D4CC"/>
                </a:solidFill>
                <a:latin typeface="Raleway Medium" pitchFamily="34" charset="0"/>
                <a:ea typeface="Raleway Medium" pitchFamily="34" charset="-122"/>
                <a:cs typeface="Raleway Medium" pitchFamily="34" charset="-120"/>
              </a:rPr>
              <a:t>Credit Card payments</a:t>
            </a:r>
            <a:pPr algn="l" indent="0" marL="0">
              <a:lnSpc>
                <a:spcPts val="2650"/>
              </a:lnSpc>
              <a:buNone/>
            </a:pPr>
            <a:r>
              <a:rPr lang="en-US" sz="1750" dirty="0">
                <a:solidFill>
                  <a:srgbClr val="D7D4CC"/>
                </a:solidFill>
                <a:latin typeface="Raleway Medium" pitchFamily="34" charset="0"/>
                <a:ea typeface="Raleway Medium" pitchFamily="34" charset="-122"/>
                <a:cs typeface="Raleway Medium" pitchFamily="34" charset="-120"/>
              </a:rPr>
              <a:t> has shown to significantly increase average order values, making higher-priced items more accessible to customers.</a:t>
            </a:r>
            <a:endParaRPr lang="en-US" sz="17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0653" y="3831431"/>
            <a:ext cx="559475" cy="559475"/>
          </a:xfrm>
          <a:prstGeom prst="rect">
            <a:avLst/>
          </a:prstGeom>
        </p:spPr>
      </p:pic>
      <p:sp>
        <p:nvSpPr>
          <p:cNvPr id="8" name="Text 4"/>
          <p:cNvSpPr/>
          <p:nvPr/>
        </p:nvSpPr>
        <p:spPr>
          <a:xfrm>
            <a:off x="6028730" y="3831431"/>
            <a:ext cx="3380899" cy="621506"/>
          </a:xfrm>
          <a:prstGeom prst="rect">
            <a:avLst/>
          </a:prstGeom>
          <a:noFill/>
          <a:ln/>
        </p:spPr>
        <p:txBody>
          <a:bodyPr wrap="square" lIns="0" tIns="0" rIns="0" bIns="0" rtlCol="0" anchor="t"/>
          <a:lstStyle/>
          <a:p>
            <a:pPr algn="l" indent="0" marL="0">
              <a:lnSpc>
                <a:spcPts val="2400"/>
              </a:lnSpc>
              <a:buNone/>
            </a:pPr>
            <a:r>
              <a:rPr lang="en-US" sz="1950" b="1" dirty="0">
                <a:solidFill>
                  <a:srgbClr val="D7D4CC"/>
                </a:solidFill>
                <a:latin typeface="Comfortaa Bold" pitchFamily="34" charset="0"/>
                <a:ea typeface="Comfortaa Bold" pitchFamily="34" charset="-122"/>
                <a:cs typeface="Comfortaa Bold" pitchFamily="34" charset="-120"/>
              </a:rPr>
              <a:t>Cash on Delivery (COD) Considerations</a:t>
            </a:r>
            <a:endParaRPr lang="en-US" sz="1950" dirty="0"/>
          </a:p>
        </p:txBody>
      </p:sp>
      <p:sp>
        <p:nvSpPr>
          <p:cNvPr id="9" name="Text 5"/>
          <p:cNvSpPr/>
          <p:nvPr/>
        </p:nvSpPr>
        <p:spPr>
          <a:xfrm>
            <a:off x="6028730" y="4572238"/>
            <a:ext cx="3380899" cy="2366962"/>
          </a:xfrm>
          <a:prstGeom prst="rect">
            <a:avLst/>
          </a:prstGeom>
          <a:noFill/>
          <a:ln/>
        </p:spPr>
        <p:txBody>
          <a:bodyPr wrap="square" lIns="0" tIns="0" rIns="0" bIns="0" rtlCol="0" anchor="t"/>
          <a:lstStyle/>
          <a:p>
            <a:pPr algn="l" indent="0" marL="0">
              <a:lnSpc>
                <a:spcPts val="2650"/>
              </a:lnSpc>
              <a:buNone/>
            </a:pPr>
            <a:r>
              <a:rPr lang="en-US" sz="1750" dirty="0">
                <a:solidFill>
                  <a:srgbClr val="D7D4CC"/>
                </a:solidFill>
                <a:latin typeface="Raleway Medium" pitchFamily="34" charset="0"/>
                <a:ea typeface="Raleway Medium" pitchFamily="34" charset="-122"/>
                <a:cs typeface="Raleway Medium" pitchFamily="34" charset="-120"/>
              </a:rPr>
              <a:t>While </a:t>
            </a:r>
            <a:pPr algn="l" indent="0" marL="0">
              <a:lnSpc>
                <a:spcPts val="2650"/>
              </a:lnSpc>
              <a:buNone/>
            </a:pPr>
            <a:r>
              <a:rPr lang="en-US" sz="1750" b="1" dirty="0">
                <a:solidFill>
                  <a:srgbClr val="D7D4CC"/>
                </a:solidFill>
                <a:latin typeface="Raleway Medium" pitchFamily="34" charset="0"/>
                <a:ea typeface="Raleway Medium" pitchFamily="34" charset="-122"/>
                <a:cs typeface="Raleway Medium" pitchFamily="34" charset="-120"/>
              </a:rPr>
              <a:t>Cash on Delivery (COD)</a:t>
            </a:r>
            <a:pPr algn="l" indent="0" marL="0">
              <a:lnSpc>
                <a:spcPts val="2650"/>
              </a:lnSpc>
              <a:buNone/>
            </a:pPr>
            <a:r>
              <a:rPr lang="en-US" sz="1750" dirty="0">
                <a:solidFill>
                  <a:srgbClr val="D7D4CC"/>
                </a:solidFill>
                <a:latin typeface="Raleway Medium" pitchFamily="34" charset="0"/>
                <a:ea typeface="Raleway Medium" pitchFamily="34" charset="-122"/>
                <a:cs typeface="Raleway Medium" pitchFamily="34" charset="-120"/>
              </a:rPr>
              <a:t> remains a popular option, it often correlates with lower profit margins due to operational costs and potential returns. We will strategically manage its offering.</a:t>
            </a:r>
            <a:endParaRPr lang="en-US" sz="17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58231" y="3831431"/>
            <a:ext cx="559475" cy="559475"/>
          </a:xfrm>
          <a:prstGeom prst="rect">
            <a:avLst/>
          </a:prstGeom>
        </p:spPr>
      </p:pic>
      <p:sp>
        <p:nvSpPr>
          <p:cNvPr id="11" name="Text 6"/>
          <p:cNvSpPr/>
          <p:nvPr/>
        </p:nvSpPr>
        <p:spPr>
          <a:xfrm>
            <a:off x="10466308" y="3831431"/>
            <a:ext cx="3380899" cy="621506"/>
          </a:xfrm>
          <a:prstGeom prst="rect">
            <a:avLst/>
          </a:prstGeom>
          <a:noFill/>
          <a:ln/>
        </p:spPr>
        <p:txBody>
          <a:bodyPr wrap="square" lIns="0" tIns="0" rIns="0" bIns="0" rtlCol="0" anchor="t"/>
          <a:lstStyle/>
          <a:p>
            <a:pPr algn="l" indent="0" marL="0">
              <a:lnSpc>
                <a:spcPts val="2400"/>
              </a:lnSpc>
              <a:buNone/>
            </a:pPr>
            <a:r>
              <a:rPr lang="en-US" sz="1950" b="1" dirty="0">
                <a:solidFill>
                  <a:srgbClr val="D7D4CC"/>
                </a:solidFill>
                <a:latin typeface="Comfortaa Bold" pitchFamily="34" charset="0"/>
                <a:ea typeface="Comfortaa Bold" pitchFamily="34" charset="-122"/>
                <a:cs typeface="Comfortaa Bold" pitchFamily="34" charset="-120"/>
              </a:rPr>
              <a:t>Customer Loyalty Programs</a:t>
            </a:r>
            <a:endParaRPr lang="en-US" sz="1950" dirty="0"/>
          </a:p>
        </p:txBody>
      </p:sp>
      <p:sp>
        <p:nvSpPr>
          <p:cNvPr id="12" name="Text 7"/>
          <p:cNvSpPr/>
          <p:nvPr/>
        </p:nvSpPr>
        <p:spPr>
          <a:xfrm>
            <a:off x="10466308" y="4572238"/>
            <a:ext cx="3380899" cy="2366962"/>
          </a:xfrm>
          <a:prstGeom prst="rect">
            <a:avLst/>
          </a:prstGeom>
          <a:noFill/>
          <a:ln/>
        </p:spPr>
        <p:txBody>
          <a:bodyPr wrap="square" lIns="0" tIns="0" rIns="0" bIns="0" rtlCol="0" anchor="t"/>
          <a:lstStyle/>
          <a:p>
            <a:pPr algn="l" indent="0" marL="0">
              <a:lnSpc>
                <a:spcPts val="2650"/>
              </a:lnSpc>
              <a:buNone/>
            </a:pPr>
            <a:r>
              <a:rPr lang="en-US" sz="1750" dirty="0">
                <a:solidFill>
                  <a:srgbClr val="D7D4CC"/>
                </a:solidFill>
                <a:latin typeface="Raleway Medium" pitchFamily="34" charset="0"/>
                <a:ea typeface="Raleway Medium" pitchFamily="34" charset="-122"/>
                <a:cs typeface="Raleway Medium" pitchFamily="34" charset="-120"/>
              </a:rPr>
              <a:t>Implementing robust </a:t>
            </a:r>
            <a:pPr algn="l" indent="0" marL="0">
              <a:lnSpc>
                <a:spcPts val="2650"/>
              </a:lnSpc>
              <a:buNone/>
            </a:pPr>
            <a:r>
              <a:rPr lang="en-US" sz="1750" b="1" dirty="0">
                <a:solidFill>
                  <a:srgbClr val="D7D4CC"/>
                </a:solidFill>
                <a:latin typeface="Raleway Medium" pitchFamily="34" charset="0"/>
                <a:ea typeface="Raleway Medium" pitchFamily="34" charset="-122"/>
                <a:cs typeface="Raleway Medium" pitchFamily="34" charset="-120"/>
              </a:rPr>
              <a:t>loyalty programs</a:t>
            </a:r>
            <a:pPr algn="l" indent="0" marL="0">
              <a:lnSpc>
                <a:spcPts val="2650"/>
              </a:lnSpc>
              <a:buNone/>
            </a:pPr>
            <a:r>
              <a:rPr lang="en-US" sz="1750" dirty="0">
                <a:solidFill>
                  <a:srgbClr val="D7D4CC"/>
                </a:solidFill>
                <a:latin typeface="Raleway Medium" pitchFamily="34" charset="0"/>
                <a:ea typeface="Raleway Medium" pitchFamily="34" charset="-122"/>
                <a:cs typeface="Raleway Medium" pitchFamily="34" charset="-120"/>
              </a:rPr>
              <a:t> is crucial for encouraging repeat purchases and building a strong, committed customer base, driving sustained long-term revenue.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09149" y="721400"/>
            <a:ext cx="13012102" cy="1027509"/>
          </a:xfrm>
          <a:prstGeom prst="rect">
            <a:avLst/>
          </a:prstGeom>
          <a:noFill/>
          <a:ln/>
        </p:spPr>
        <p:txBody>
          <a:bodyPr wrap="square" lIns="0" tIns="0" rIns="0" bIns="0" rtlCol="0" anchor="t"/>
          <a:lstStyle/>
          <a:p>
            <a:pPr algn="l" indent="0" marL="0">
              <a:lnSpc>
                <a:spcPts val="4000"/>
              </a:lnSpc>
              <a:buNone/>
            </a:pPr>
            <a:r>
              <a:rPr lang="en-US" sz="3200" b="1" dirty="0">
                <a:solidFill>
                  <a:srgbClr val="FFE14D"/>
                </a:solidFill>
                <a:latin typeface="Comfortaa Bold" pitchFamily="34" charset="0"/>
                <a:ea typeface="Comfortaa Bold" pitchFamily="34" charset="-122"/>
                <a:cs typeface="Comfortaa Bold" pitchFamily="34" charset="-120"/>
              </a:rPr>
              <a:t>Final Recommendations &amp; Impact: Driving Sustainable Growth</a:t>
            </a:r>
            <a:endParaRPr lang="en-US" sz="3200" dirty="0"/>
          </a:p>
        </p:txBody>
      </p:sp>
      <p:sp>
        <p:nvSpPr>
          <p:cNvPr id="3" name="Text 1"/>
          <p:cNvSpPr/>
          <p:nvPr/>
        </p:nvSpPr>
        <p:spPr>
          <a:xfrm>
            <a:off x="809149" y="2020610"/>
            <a:ext cx="13012102" cy="513398"/>
          </a:xfrm>
          <a:prstGeom prst="rect">
            <a:avLst/>
          </a:prstGeom>
          <a:noFill/>
          <a:ln/>
        </p:spPr>
        <p:txBody>
          <a:bodyPr wrap="square" lIns="0" tIns="0" rIns="0" bIns="0" rtlCol="0" anchor="t"/>
          <a:lstStyle/>
          <a:p>
            <a:pPr algn="l" indent="0" marL="0">
              <a:lnSpc>
                <a:spcPts val="2000"/>
              </a:lnSpc>
              <a:buNone/>
            </a:pPr>
            <a:r>
              <a:rPr lang="en-US" sz="1450" dirty="0">
                <a:solidFill>
                  <a:srgbClr val="D7D4CC"/>
                </a:solidFill>
                <a:latin typeface="Raleway Medium" pitchFamily="34" charset="0"/>
                <a:ea typeface="Raleway Medium" pitchFamily="34" charset="-122"/>
                <a:cs typeface="Raleway Medium" pitchFamily="34" charset="-120"/>
              </a:rPr>
              <a:t>By integrating these strategic recommendations, we anticipate a transformative impact on our business performance, leading to both immediate gains and sustained profitability. Our focus is clear, and our actions are targeted.</a:t>
            </a:r>
            <a:endParaRPr lang="en-US" sz="1450" dirty="0"/>
          </a:p>
        </p:txBody>
      </p:sp>
      <p:sp>
        <p:nvSpPr>
          <p:cNvPr id="4" name="Text 2"/>
          <p:cNvSpPr/>
          <p:nvPr/>
        </p:nvSpPr>
        <p:spPr>
          <a:xfrm>
            <a:off x="809149" y="2686883"/>
            <a:ext cx="184904" cy="231100"/>
          </a:xfrm>
          <a:prstGeom prst="rect">
            <a:avLst/>
          </a:prstGeom>
          <a:noFill/>
          <a:ln/>
        </p:spPr>
        <p:txBody>
          <a:bodyPr wrap="none" lIns="0" tIns="0" rIns="0" bIns="0" rtlCol="0" anchor="t"/>
          <a:lstStyle/>
          <a:p>
            <a:pPr algn="l" indent="0" marL="0">
              <a:lnSpc>
                <a:spcPts val="2000"/>
              </a:lnSpc>
              <a:buNone/>
            </a:pPr>
            <a:r>
              <a:rPr lang="en-US" sz="1450" dirty="0">
                <a:solidFill>
                  <a:srgbClr val="D7D4CC"/>
                </a:solidFill>
                <a:latin typeface="Comfortaa Light" pitchFamily="34" charset="0"/>
                <a:ea typeface="Comfortaa Light" pitchFamily="34" charset="-122"/>
                <a:cs typeface="Comfortaa Light" pitchFamily="34" charset="-120"/>
              </a:rPr>
              <a:t>01</a:t>
            </a:r>
            <a:endParaRPr lang="en-US" sz="1450" dirty="0"/>
          </a:p>
        </p:txBody>
      </p:sp>
      <p:sp>
        <p:nvSpPr>
          <p:cNvPr id="5" name="Shape 3"/>
          <p:cNvSpPr/>
          <p:nvPr/>
        </p:nvSpPr>
        <p:spPr>
          <a:xfrm>
            <a:off x="809149" y="2978229"/>
            <a:ext cx="6438067" cy="22860"/>
          </a:xfrm>
          <a:prstGeom prst="rect">
            <a:avLst/>
          </a:prstGeom>
          <a:solidFill>
            <a:srgbClr val="FFE14D"/>
          </a:solidFill>
          <a:ln/>
        </p:spPr>
      </p:sp>
      <p:sp>
        <p:nvSpPr>
          <p:cNvPr id="6" name="Text 4"/>
          <p:cNvSpPr/>
          <p:nvPr/>
        </p:nvSpPr>
        <p:spPr>
          <a:xfrm>
            <a:off x="809149" y="3116342"/>
            <a:ext cx="4108490" cy="308134"/>
          </a:xfrm>
          <a:prstGeom prst="rect">
            <a:avLst/>
          </a:prstGeom>
          <a:noFill/>
          <a:ln/>
        </p:spPr>
        <p:txBody>
          <a:bodyPr wrap="none" lIns="0" tIns="0" rIns="0" bIns="0" rtlCol="0" anchor="t"/>
          <a:lstStyle/>
          <a:p>
            <a:pPr algn="l" indent="0" marL="0">
              <a:lnSpc>
                <a:spcPts val="2400"/>
              </a:lnSpc>
              <a:buNone/>
            </a:pPr>
            <a:r>
              <a:rPr lang="en-US" sz="1900" b="1" dirty="0">
                <a:solidFill>
                  <a:srgbClr val="D7D4CC"/>
                </a:solidFill>
                <a:latin typeface="Comfortaa Bold" pitchFamily="34" charset="0"/>
                <a:ea typeface="Comfortaa Bold" pitchFamily="34" charset="-122"/>
                <a:cs typeface="Comfortaa Bold" pitchFamily="34" charset="-120"/>
              </a:rPr>
              <a:t>Prioritize High-Margin Products</a:t>
            </a:r>
            <a:endParaRPr lang="en-US" sz="1900" dirty="0"/>
          </a:p>
        </p:txBody>
      </p:sp>
      <p:sp>
        <p:nvSpPr>
          <p:cNvPr id="7" name="Text 5"/>
          <p:cNvSpPr/>
          <p:nvPr/>
        </p:nvSpPr>
        <p:spPr>
          <a:xfrm>
            <a:off x="809149" y="3505914"/>
            <a:ext cx="6438067" cy="513398"/>
          </a:xfrm>
          <a:prstGeom prst="rect">
            <a:avLst/>
          </a:prstGeom>
          <a:noFill/>
          <a:ln/>
        </p:spPr>
        <p:txBody>
          <a:bodyPr wrap="square" lIns="0" tIns="0" rIns="0" bIns="0" rtlCol="0" anchor="t"/>
          <a:lstStyle/>
          <a:p>
            <a:pPr algn="l" indent="0" marL="0">
              <a:lnSpc>
                <a:spcPts val="2000"/>
              </a:lnSpc>
              <a:buNone/>
            </a:pPr>
            <a:r>
              <a:rPr lang="en-US" sz="1450" dirty="0">
                <a:solidFill>
                  <a:srgbClr val="D7D4CC"/>
                </a:solidFill>
                <a:latin typeface="Raleway Medium" pitchFamily="34" charset="0"/>
                <a:ea typeface="Raleway Medium" pitchFamily="34" charset="-122"/>
                <a:cs typeface="Raleway Medium" pitchFamily="34" charset="-120"/>
              </a:rPr>
              <a:t>Shift focus to products like premium electronics and furniture to maximize individual transaction profitability.</a:t>
            </a:r>
            <a:endParaRPr lang="en-US" sz="1450" dirty="0"/>
          </a:p>
        </p:txBody>
      </p:sp>
      <p:sp>
        <p:nvSpPr>
          <p:cNvPr id="8" name="Text 6"/>
          <p:cNvSpPr/>
          <p:nvPr/>
        </p:nvSpPr>
        <p:spPr>
          <a:xfrm>
            <a:off x="7383066" y="2686883"/>
            <a:ext cx="184904" cy="231100"/>
          </a:xfrm>
          <a:prstGeom prst="rect">
            <a:avLst/>
          </a:prstGeom>
          <a:noFill/>
          <a:ln/>
        </p:spPr>
        <p:txBody>
          <a:bodyPr wrap="none" lIns="0" tIns="0" rIns="0" bIns="0" rtlCol="0" anchor="t"/>
          <a:lstStyle/>
          <a:p>
            <a:pPr algn="l" indent="0" marL="0">
              <a:lnSpc>
                <a:spcPts val="2000"/>
              </a:lnSpc>
              <a:buNone/>
            </a:pPr>
            <a:r>
              <a:rPr lang="en-US" sz="1450" dirty="0">
                <a:solidFill>
                  <a:srgbClr val="D7D4CC"/>
                </a:solidFill>
                <a:latin typeface="Comfortaa Light" pitchFamily="34" charset="0"/>
                <a:ea typeface="Comfortaa Light" pitchFamily="34" charset="-122"/>
                <a:cs typeface="Comfortaa Light" pitchFamily="34" charset="-120"/>
              </a:rPr>
              <a:t>02</a:t>
            </a:r>
            <a:endParaRPr lang="en-US" sz="1450" dirty="0"/>
          </a:p>
        </p:txBody>
      </p:sp>
      <p:sp>
        <p:nvSpPr>
          <p:cNvPr id="9" name="Shape 7"/>
          <p:cNvSpPr/>
          <p:nvPr/>
        </p:nvSpPr>
        <p:spPr>
          <a:xfrm>
            <a:off x="7383066" y="2978229"/>
            <a:ext cx="6438186" cy="22860"/>
          </a:xfrm>
          <a:prstGeom prst="rect">
            <a:avLst/>
          </a:prstGeom>
          <a:solidFill>
            <a:srgbClr val="FFE14D"/>
          </a:solidFill>
          <a:ln/>
        </p:spPr>
      </p:sp>
      <p:sp>
        <p:nvSpPr>
          <p:cNvPr id="10" name="Text 8"/>
          <p:cNvSpPr/>
          <p:nvPr/>
        </p:nvSpPr>
        <p:spPr>
          <a:xfrm>
            <a:off x="7383066" y="3116342"/>
            <a:ext cx="2794278" cy="308134"/>
          </a:xfrm>
          <a:prstGeom prst="rect">
            <a:avLst/>
          </a:prstGeom>
          <a:noFill/>
          <a:ln/>
        </p:spPr>
        <p:txBody>
          <a:bodyPr wrap="none" lIns="0" tIns="0" rIns="0" bIns="0" rtlCol="0" anchor="t"/>
          <a:lstStyle/>
          <a:p>
            <a:pPr algn="l" indent="0" marL="0">
              <a:lnSpc>
                <a:spcPts val="2400"/>
              </a:lnSpc>
              <a:buNone/>
            </a:pPr>
            <a:r>
              <a:rPr lang="en-US" sz="1900" b="1" dirty="0">
                <a:solidFill>
                  <a:srgbClr val="D7D4CC"/>
                </a:solidFill>
                <a:latin typeface="Comfortaa Bold" pitchFamily="34" charset="0"/>
                <a:ea typeface="Comfortaa Bold" pitchFamily="34" charset="-122"/>
                <a:cs typeface="Comfortaa Bold" pitchFamily="34" charset="-120"/>
              </a:rPr>
              <a:t>Tailor Regional Offers</a:t>
            </a:r>
            <a:endParaRPr lang="en-US" sz="1900" dirty="0"/>
          </a:p>
        </p:txBody>
      </p:sp>
      <p:sp>
        <p:nvSpPr>
          <p:cNvPr id="11" name="Text 9"/>
          <p:cNvSpPr/>
          <p:nvPr/>
        </p:nvSpPr>
        <p:spPr>
          <a:xfrm>
            <a:off x="7383066" y="3505914"/>
            <a:ext cx="6438186" cy="513398"/>
          </a:xfrm>
          <a:prstGeom prst="rect">
            <a:avLst/>
          </a:prstGeom>
          <a:noFill/>
          <a:ln/>
        </p:spPr>
        <p:txBody>
          <a:bodyPr wrap="square" lIns="0" tIns="0" rIns="0" bIns="0" rtlCol="0" anchor="t"/>
          <a:lstStyle/>
          <a:p>
            <a:pPr algn="l" indent="0" marL="0">
              <a:lnSpc>
                <a:spcPts val="2000"/>
              </a:lnSpc>
              <a:buNone/>
            </a:pPr>
            <a:r>
              <a:rPr lang="en-US" sz="1450" dirty="0">
                <a:solidFill>
                  <a:srgbClr val="D7D4CC"/>
                </a:solidFill>
                <a:latin typeface="Raleway Medium" pitchFamily="34" charset="0"/>
                <a:ea typeface="Raleway Medium" pitchFamily="34" charset="-122"/>
                <a:cs typeface="Raleway Medium" pitchFamily="34" charset="-120"/>
              </a:rPr>
              <a:t>Develop customized strategies for top-performing and high-growth regions, considering local demand and competitive landscapes.</a:t>
            </a:r>
            <a:endParaRPr lang="en-US" sz="1450" dirty="0"/>
          </a:p>
        </p:txBody>
      </p:sp>
      <p:sp>
        <p:nvSpPr>
          <p:cNvPr id="12" name="Text 10"/>
          <p:cNvSpPr/>
          <p:nvPr/>
        </p:nvSpPr>
        <p:spPr>
          <a:xfrm>
            <a:off x="809149" y="4293870"/>
            <a:ext cx="184904" cy="231100"/>
          </a:xfrm>
          <a:prstGeom prst="rect">
            <a:avLst/>
          </a:prstGeom>
          <a:noFill/>
          <a:ln/>
        </p:spPr>
        <p:txBody>
          <a:bodyPr wrap="none" lIns="0" tIns="0" rIns="0" bIns="0" rtlCol="0" anchor="t"/>
          <a:lstStyle/>
          <a:p>
            <a:pPr algn="l" indent="0" marL="0">
              <a:lnSpc>
                <a:spcPts val="2000"/>
              </a:lnSpc>
              <a:buNone/>
            </a:pPr>
            <a:r>
              <a:rPr lang="en-US" sz="1450" dirty="0">
                <a:solidFill>
                  <a:srgbClr val="D7D4CC"/>
                </a:solidFill>
                <a:latin typeface="Comfortaa Light" pitchFamily="34" charset="0"/>
                <a:ea typeface="Comfortaa Light" pitchFamily="34" charset="-122"/>
                <a:cs typeface="Comfortaa Light" pitchFamily="34" charset="-120"/>
              </a:rPr>
              <a:t>03</a:t>
            </a:r>
            <a:endParaRPr lang="en-US" sz="1450" dirty="0"/>
          </a:p>
        </p:txBody>
      </p:sp>
      <p:sp>
        <p:nvSpPr>
          <p:cNvPr id="13" name="Shape 11"/>
          <p:cNvSpPr/>
          <p:nvPr/>
        </p:nvSpPr>
        <p:spPr>
          <a:xfrm>
            <a:off x="809149" y="4585216"/>
            <a:ext cx="6438067" cy="22860"/>
          </a:xfrm>
          <a:prstGeom prst="rect">
            <a:avLst/>
          </a:prstGeom>
          <a:solidFill>
            <a:srgbClr val="FFE14D"/>
          </a:solidFill>
          <a:ln/>
        </p:spPr>
      </p:sp>
      <p:sp>
        <p:nvSpPr>
          <p:cNvPr id="14" name="Text 12"/>
          <p:cNvSpPr/>
          <p:nvPr/>
        </p:nvSpPr>
        <p:spPr>
          <a:xfrm>
            <a:off x="809149" y="4723328"/>
            <a:ext cx="3708082" cy="308134"/>
          </a:xfrm>
          <a:prstGeom prst="rect">
            <a:avLst/>
          </a:prstGeom>
          <a:noFill/>
          <a:ln/>
        </p:spPr>
        <p:txBody>
          <a:bodyPr wrap="none" lIns="0" tIns="0" rIns="0" bIns="0" rtlCol="0" anchor="t"/>
          <a:lstStyle/>
          <a:p>
            <a:pPr algn="l" indent="0" marL="0">
              <a:lnSpc>
                <a:spcPts val="2400"/>
              </a:lnSpc>
              <a:buNone/>
            </a:pPr>
            <a:r>
              <a:rPr lang="en-US" sz="1900" b="1" dirty="0">
                <a:solidFill>
                  <a:srgbClr val="D7D4CC"/>
                </a:solidFill>
                <a:latin typeface="Comfortaa Bold" pitchFamily="34" charset="0"/>
                <a:ea typeface="Comfortaa Bold" pitchFamily="34" charset="-122"/>
                <a:cs typeface="Comfortaa Bold" pitchFamily="34" charset="-120"/>
              </a:rPr>
              <a:t>Optimize Payment Incentives</a:t>
            </a:r>
            <a:endParaRPr lang="en-US" sz="1900" dirty="0"/>
          </a:p>
        </p:txBody>
      </p:sp>
      <p:sp>
        <p:nvSpPr>
          <p:cNvPr id="15" name="Text 13"/>
          <p:cNvSpPr/>
          <p:nvPr/>
        </p:nvSpPr>
        <p:spPr>
          <a:xfrm>
            <a:off x="809149" y="5112901"/>
            <a:ext cx="6438067" cy="513398"/>
          </a:xfrm>
          <a:prstGeom prst="rect">
            <a:avLst/>
          </a:prstGeom>
          <a:noFill/>
          <a:ln/>
        </p:spPr>
        <p:txBody>
          <a:bodyPr wrap="square" lIns="0" tIns="0" rIns="0" bIns="0" rtlCol="0" anchor="t"/>
          <a:lstStyle/>
          <a:p>
            <a:pPr algn="l" indent="0" marL="0">
              <a:lnSpc>
                <a:spcPts val="2000"/>
              </a:lnSpc>
              <a:buNone/>
            </a:pPr>
            <a:r>
              <a:rPr lang="en-US" sz="1450" dirty="0">
                <a:solidFill>
                  <a:srgbClr val="D7D4CC"/>
                </a:solidFill>
                <a:latin typeface="Raleway Medium" pitchFamily="34" charset="0"/>
                <a:ea typeface="Raleway Medium" pitchFamily="34" charset="-122"/>
                <a:cs typeface="Raleway Medium" pitchFamily="34" charset="-120"/>
              </a:rPr>
              <a:t>Leverage EMI and credit card promotions to increase average order values and customer spending.</a:t>
            </a:r>
            <a:endParaRPr lang="en-US" sz="1450" dirty="0"/>
          </a:p>
        </p:txBody>
      </p:sp>
      <p:sp>
        <p:nvSpPr>
          <p:cNvPr id="16" name="Text 14"/>
          <p:cNvSpPr/>
          <p:nvPr/>
        </p:nvSpPr>
        <p:spPr>
          <a:xfrm>
            <a:off x="7383066" y="4293870"/>
            <a:ext cx="184904" cy="231100"/>
          </a:xfrm>
          <a:prstGeom prst="rect">
            <a:avLst/>
          </a:prstGeom>
          <a:noFill/>
          <a:ln/>
        </p:spPr>
        <p:txBody>
          <a:bodyPr wrap="none" lIns="0" tIns="0" rIns="0" bIns="0" rtlCol="0" anchor="t"/>
          <a:lstStyle/>
          <a:p>
            <a:pPr algn="l" indent="0" marL="0">
              <a:lnSpc>
                <a:spcPts val="2000"/>
              </a:lnSpc>
              <a:buNone/>
            </a:pPr>
            <a:r>
              <a:rPr lang="en-US" sz="1450" dirty="0">
                <a:solidFill>
                  <a:srgbClr val="D7D4CC"/>
                </a:solidFill>
                <a:latin typeface="Comfortaa Light" pitchFamily="34" charset="0"/>
                <a:ea typeface="Comfortaa Light" pitchFamily="34" charset="-122"/>
                <a:cs typeface="Comfortaa Light" pitchFamily="34" charset="-120"/>
              </a:rPr>
              <a:t>04</a:t>
            </a:r>
            <a:endParaRPr lang="en-US" sz="1450" dirty="0"/>
          </a:p>
        </p:txBody>
      </p:sp>
      <p:sp>
        <p:nvSpPr>
          <p:cNvPr id="17" name="Shape 15"/>
          <p:cNvSpPr/>
          <p:nvPr/>
        </p:nvSpPr>
        <p:spPr>
          <a:xfrm>
            <a:off x="7383066" y="4585216"/>
            <a:ext cx="6438186" cy="22860"/>
          </a:xfrm>
          <a:prstGeom prst="rect">
            <a:avLst/>
          </a:prstGeom>
          <a:solidFill>
            <a:srgbClr val="FFE14D"/>
          </a:solidFill>
          <a:ln/>
        </p:spPr>
      </p:sp>
      <p:sp>
        <p:nvSpPr>
          <p:cNvPr id="18" name="Text 16"/>
          <p:cNvSpPr/>
          <p:nvPr/>
        </p:nvSpPr>
        <p:spPr>
          <a:xfrm>
            <a:off x="7383066" y="4723328"/>
            <a:ext cx="3481030" cy="308134"/>
          </a:xfrm>
          <a:prstGeom prst="rect">
            <a:avLst/>
          </a:prstGeom>
          <a:noFill/>
          <a:ln/>
        </p:spPr>
        <p:txBody>
          <a:bodyPr wrap="none" lIns="0" tIns="0" rIns="0" bIns="0" rtlCol="0" anchor="t"/>
          <a:lstStyle/>
          <a:p>
            <a:pPr algn="l" indent="0" marL="0">
              <a:lnSpc>
                <a:spcPts val="2400"/>
              </a:lnSpc>
              <a:buNone/>
            </a:pPr>
            <a:r>
              <a:rPr lang="en-US" sz="1900" b="1" dirty="0">
                <a:solidFill>
                  <a:srgbClr val="D7D4CC"/>
                </a:solidFill>
                <a:latin typeface="Comfortaa Bold" pitchFamily="34" charset="0"/>
                <a:ea typeface="Comfortaa Bold" pitchFamily="34" charset="-122"/>
                <a:cs typeface="Comfortaa Bold" pitchFamily="34" charset="-120"/>
              </a:rPr>
              <a:t>Cultivate Customer Loyalty</a:t>
            </a:r>
            <a:endParaRPr lang="en-US" sz="1900" dirty="0"/>
          </a:p>
        </p:txBody>
      </p:sp>
      <p:sp>
        <p:nvSpPr>
          <p:cNvPr id="19" name="Text 17"/>
          <p:cNvSpPr/>
          <p:nvPr/>
        </p:nvSpPr>
        <p:spPr>
          <a:xfrm>
            <a:off x="7383066" y="5112901"/>
            <a:ext cx="6438186" cy="513398"/>
          </a:xfrm>
          <a:prstGeom prst="rect">
            <a:avLst/>
          </a:prstGeom>
          <a:noFill/>
          <a:ln/>
        </p:spPr>
        <p:txBody>
          <a:bodyPr wrap="square" lIns="0" tIns="0" rIns="0" bIns="0" rtlCol="0" anchor="t"/>
          <a:lstStyle/>
          <a:p>
            <a:pPr algn="l" indent="0" marL="0">
              <a:lnSpc>
                <a:spcPts val="2000"/>
              </a:lnSpc>
              <a:buNone/>
            </a:pPr>
            <a:r>
              <a:rPr lang="en-US" sz="1450" dirty="0">
                <a:solidFill>
                  <a:srgbClr val="D7D4CC"/>
                </a:solidFill>
                <a:latin typeface="Raleway Medium" pitchFamily="34" charset="0"/>
                <a:ea typeface="Raleway Medium" pitchFamily="34" charset="-122"/>
                <a:cs typeface="Raleway Medium" pitchFamily="34" charset="-120"/>
              </a:rPr>
              <a:t>Invest in loyalty programs to encourage repeat business and strengthen customer relationships.</a:t>
            </a:r>
            <a:endParaRPr lang="en-US" sz="1450" dirty="0"/>
          </a:p>
        </p:txBody>
      </p:sp>
      <p:sp>
        <p:nvSpPr>
          <p:cNvPr id="20" name="Text 18"/>
          <p:cNvSpPr/>
          <p:nvPr/>
        </p:nvSpPr>
        <p:spPr>
          <a:xfrm>
            <a:off x="809149" y="5968841"/>
            <a:ext cx="13012102" cy="822008"/>
          </a:xfrm>
          <a:prstGeom prst="rect">
            <a:avLst/>
          </a:prstGeom>
          <a:noFill/>
          <a:ln/>
        </p:spPr>
        <p:txBody>
          <a:bodyPr wrap="square" lIns="0" tIns="0" rIns="0" bIns="0" rtlCol="0" anchor="t"/>
          <a:lstStyle/>
          <a:p>
            <a:pPr algn="l" indent="0" marL="0">
              <a:lnSpc>
                <a:spcPts val="3200"/>
              </a:lnSpc>
              <a:buNone/>
            </a:pPr>
            <a:r>
              <a:rPr lang="en-US" sz="2550" b="1" dirty="0">
                <a:solidFill>
                  <a:srgbClr val="FFE14D"/>
                </a:solidFill>
                <a:latin typeface="Comfortaa Bold" pitchFamily="34" charset="0"/>
                <a:ea typeface="Comfortaa Bold" pitchFamily="34" charset="-122"/>
                <a:cs typeface="Comfortaa Bold" pitchFamily="34" charset="-120"/>
              </a:rPr>
              <a:t>Expected Outcome: Significantly Higher Revenue &amp; Enhanced Profit Margins</a:t>
            </a:r>
            <a:endParaRPr lang="en-US" sz="2550" dirty="0"/>
          </a:p>
        </p:txBody>
      </p:sp>
      <p:sp>
        <p:nvSpPr>
          <p:cNvPr id="21" name="Text 19"/>
          <p:cNvSpPr/>
          <p:nvPr/>
        </p:nvSpPr>
        <p:spPr>
          <a:xfrm>
            <a:off x="809149" y="6994684"/>
            <a:ext cx="13012102" cy="513398"/>
          </a:xfrm>
          <a:prstGeom prst="rect">
            <a:avLst/>
          </a:prstGeom>
          <a:noFill/>
          <a:ln/>
        </p:spPr>
        <p:txBody>
          <a:bodyPr wrap="square" lIns="0" tIns="0" rIns="0" bIns="0" rtlCol="0" anchor="t"/>
          <a:lstStyle/>
          <a:p>
            <a:pPr algn="l" indent="0" marL="0">
              <a:lnSpc>
                <a:spcPts val="2000"/>
              </a:lnSpc>
              <a:buNone/>
            </a:pPr>
            <a:r>
              <a:rPr lang="en-US" sz="1450" dirty="0">
                <a:solidFill>
                  <a:srgbClr val="D7D4CC"/>
                </a:solidFill>
                <a:latin typeface="Raleway Medium" pitchFamily="34" charset="0"/>
                <a:ea typeface="Raleway Medium" pitchFamily="34" charset="-122"/>
                <a:cs typeface="Raleway Medium" pitchFamily="34" charset="-120"/>
              </a:rPr>
              <a:t>These focused efforts are projected to not only increase our overall revenue but also substantially improve our profit margins, ensuring a stronger, more resilient financial standing for 2018 and beyond.</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2026-02-08T09:12:45Z</dcterms:created>
  <dcterms:modified xsi:type="dcterms:W3CDTF">2026-02-08T09:12:45Z</dcterms:modified>
</cp:coreProperties>
</file>